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6858000" cy="5143500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AEAB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771182-0255-46FD-A267-F79F9FC18F6F}" v="4" dt="2026-03-01T09:09:49.479"/>
    <p1510:client id="{7680F8FA-E828-82D0-F2DB-7DE3CC2A828A}" v="7" dt="2026-03-02T18:51:07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Hayward" userId="b50b5895-66ae-4161-9610-d0d8f25118a4" providerId="ADAL" clId="{72FF0399-27F1-49DB-9E36-447A45B81DB4}"/>
    <pc:docChg chg="undo custSel modSld">
      <pc:chgData name="Jonathan Hayward" userId="b50b5895-66ae-4161-9610-d0d8f25118a4" providerId="ADAL" clId="{72FF0399-27F1-49DB-9E36-447A45B81DB4}" dt="2026-03-01T09:09:49.479" v="17"/>
      <pc:docMkLst>
        <pc:docMk/>
      </pc:docMkLst>
      <pc:sldChg chg="modSp modNotes">
        <pc:chgData name="Jonathan Hayward" userId="b50b5895-66ae-4161-9610-d0d8f25118a4" providerId="ADAL" clId="{72FF0399-27F1-49DB-9E36-447A45B81DB4}" dt="2026-02-28T16:19:44.484" v="15" actId="6549"/>
        <pc:sldMkLst>
          <pc:docMk/>
          <pc:sldMk cId="0" sldId="256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6"/>
            <ac:spMk id="18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41.579" v="14" actId="6549"/>
        <pc:sldMkLst>
          <pc:docMk/>
          <pc:sldMk cId="0" sldId="257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7"/>
            <ac:spMk id="15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8.362" v="13" actId="6549"/>
        <pc:sldMkLst>
          <pc:docMk/>
          <pc:sldMk cId="0" sldId="258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8"/>
            <ac:spMk id="3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1.064" v="11" actId="6549"/>
        <pc:sldMkLst>
          <pc:docMk/>
          <pc:sldMk cId="0" sldId="259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59"/>
            <ac:spMk id="7" creationId="{00000000-0000-0000-0000-000000000000}"/>
          </ac:spMkLst>
        </pc:spChg>
        <pc:graphicFrameChg chg="mod">
          <ac:chgData name="Jonathan Hayward" userId="b50b5895-66ae-4161-9610-d0d8f25118a4" providerId="ADAL" clId="{72FF0399-27F1-49DB-9E36-447A45B81DB4}" dt="2026-02-28T16:17:51.210" v="2"/>
          <ac:graphicFrameMkLst>
            <pc:docMk/>
            <pc:sldMk cId="0" sldId="259"/>
            <ac:graphicFrameMk id="5" creationId="{00000000-0000-0000-0000-000000000000}"/>
          </ac:graphicFrameMkLst>
        </pc:graphicFrameChg>
      </pc:sldChg>
      <pc:sldChg chg="modSp mod modNotes">
        <pc:chgData name="Jonathan Hayward" userId="b50b5895-66ae-4161-9610-d0d8f25118a4" providerId="ADAL" clId="{72FF0399-27F1-49DB-9E36-447A45B81DB4}" dt="2026-03-01T09:09:12.078" v="16" actId="404"/>
        <pc:sldMkLst>
          <pc:docMk/>
          <pc:sldMk cId="0" sldId="260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3-01T09:09:12.078" v="16" actId="404"/>
          <ac:spMkLst>
            <pc:docMk/>
            <pc:sldMk cId="0" sldId="260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0"/>
            <ac:spMk id="14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22.517" v="9" actId="6549"/>
        <pc:sldMkLst>
          <pc:docMk/>
          <pc:sldMk cId="0" sldId="261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1"/>
            <ac:spMk id="26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17.964" v="8" actId="6549"/>
        <pc:sldMkLst>
          <pc:docMk/>
          <pc:sldMk cId="0" sldId="262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2"/>
            <ac:spMk id="16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12.808" v="7" actId="6549"/>
        <pc:sldMkLst>
          <pc:docMk/>
          <pc:sldMk cId="0" sldId="263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10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2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1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4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3"/>
            <ac:spMk id="3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3-01T09:09:49.479" v="17"/>
        <pc:sldMkLst>
          <pc:docMk/>
          <pc:sldMk cId="0" sldId="264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2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7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9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3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5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6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3-01T09:09:49.479" v="1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0" sldId="264"/>
            <ac:spMk id="19" creationId="{00000000-0000-0000-0000-000000000000}"/>
          </ac:spMkLst>
        </pc:spChg>
      </pc:sldChg>
      <pc:sldChg chg="modSp modNotes">
        <pc:chgData name="Jonathan Hayward" userId="b50b5895-66ae-4161-9610-d0d8f25118a4" providerId="ADAL" clId="{72FF0399-27F1-49DB-9E36-447A45B81DB4}" dt="2026-02-28T16:19:35.268" v="12" actId="6549"/>
        <pc:sldMkLst>
          <pc:docMk/>
          <pc:sldMk cId="663972408" sldId="265"/>
        </pc:sldMkLst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2" creationId="{5C605734-FA76-E444-D0BB-0A52F784482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3" creationId="{DCDE7B3F-3142-7DBE-036A-95A50D72349B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5" creationId="{B043618C-CAAF-A616-C8B6-744944726FA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17" creationId="{DBCBDBB6-B182-D688-96C6-E977C5C19A32}"/>
          </ac:spMkLst>
        </pc:spChg>
        <pc:spChg chg="mod">
          <ac:chgData name="Jonathan Hayward" userId="b50b5895-66ae-4161-9610-d0d8f25118a4" providerId="ADAL" clId="{72FF0399-27F1-49DB-9E36-447A45B81DB4}" dt="2026-02-28T16:17:51.210" v="2"/>
          <ac:spMkLst>
            <pc:docMk/>
            <pc:sldMk cId="663972408" sldId="265"/>
            <ac:spMk id="18" creationId="{D4FB5E47-B71E-2FE9-9B44-E8220F4D70F7}"/>
          </ac:spMkLst>
        </pc:spChg>
      </pc:sldChg>
    </pc:docChg>
  </pc:docChgLst>
  <pc:docChgLst>
    <pc:chgData name="Jonathan Hayward" userId="S::jonathan.hayward@ninetyone.com::b50b5895-66ae-4161-9610-d0d8f25118a4" providerId="AD" clId="Web-{7680F8FA-E828-82D0-F2DB-7DE3CC2A828A}"/>
    <pc:docChg chg="modSld">
      <pc:chgData name="Jonathan Hayward" userId="S::jonathan.hayward@ninetyone.com::b50b5895-66ae-4161-9610-d0d8f25118a4" providerId="AD" clId="Web-{7680F8FA-E828-82D0-F2DB-7DE3CC2A828A}" dt="2026-03-02T18:51:07.076" v="5" actId="1076"/>
      <pc:docMkLst>
        <pc:docMk/>
      </pc:docMkLst>
      <pc:sldChg chg="addSp delSp modSp">
        <pc:chgData name="Jonathan Hayward" userId="S::jonathan.hayward@ninetyone.com::b50b5895-66ae-4161-9610-d0d8f25118a4" providerId="AD" clId="Web-{7680F8FA-E828-82D0-F2DB-7DE3CC2A828A}" dt="2026-03-02T18:51:07.076" v="5" actId="1076"/>
        <pc:sldMkLst>
          <pc:docMk/>
          <pc:sldMk cId="663972408" sldId="265"/>
        </pc:sldMkLst>
        <pc:spChg chg="del">
          <ac:chgData name="Jonathan Hayward" userId="S::jonathan.hayward@ninetyone.com::b50b5895-66ae-4161-9610-d0d8f25118a4" providerId="AD" clId="Web-{7680F8FA-E828-82D0-F2DB-7DE3CC2A828A}" dt="2026-03-02T18:50:54.326" v="4"/>
          <ac:spMkLst>
            <pc:docMk/>
            <pc:sldMk cId="663972408" sldId="265"/>
            <ac:spMk id="3" creationId="{DCDE7B3F-3142-7DBE-036A-95A50D72349B}"/>
          </ac:spMkLst>
        </pc:spChg>
        <pc:spChg chg="mod">
          <ac:chgData name="Jonathan Hayward" userId="S::jonathan.hayward@ninetyone.com::b50b5895-66ae-4161-9610-d0d8f25118a4" providerId="AD" clId="Web-{7680F8FA-E828-82D0-F2DB-7DE3CC2A828A}" dt="2026-03-02T18:51:07.076" v="5" actId="1076"/>
          <ac:spMkLst>
            <pc:docMk/>
            <pc:sldMk cId="663972408" sldId="265"/>
            <ac:spMk id="5" creationId="{B043618C-CAAF-A616-C8B6-744944726FA2}"/>
          </ac:spMkLst>
        </pc:spChg>
        <pc:picChg chg="add mod">
          <ac:chgData name="Jonathan Hayward" userId="S::jonathan.hayward@ninetyone.com::b50b5895-66ae-4161-9610-d0d8f25118a4" providerId="AD" clId="Web-{7680F8FA-E828-82D0-F2DB-7DE3CC2A828A}" dt="2026-03-02T18:50:50.279" v="3"/>
          <ac:picMkLst>
            <pc:docMk/>
            <pc:sldMk cId="663972408" sldId="265"/>
            <ac:picMk id="4" creationId="{43747789-D68F-A930-4098-3FD10610C175}"/>
          </ac:picMkLst>
        </pc:picChg>
        <pc:picChg chg="del">
          <ac:chgData name="Jonathan Hayward" userId="S::jonathan.hayward@ninetyone.com::b50b5895-66ae-4161-9610-d0d8f25118a4" providerId="AD" clId="Web-{7680F8FA-E828-82D0-F2DB-7DE3CC2A828A}" dt="2026-03-02T18:49:51.654" v="0"/>
          <ac:picMkLst>
            <pc:docMk/>
            <pc:sldMk cId="663972408" sldId="265"/>
            <ac:picMk id="20" creationId="{41A99828-7B26-7F73-3034-E379CF27D6A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6201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58744-2179-A285-22CF-D68B1C55A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3A7F6-B78F-03AA-695D-BCEE2778B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5F365-1692-2381-F5F3-F4B2A5947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9EB55-8A98-0227-A3CE-B372B7D5A9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245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841772"/>
            <a:ext cx="58293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2701528"/>
            <a:ext cx="51435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72413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4856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282305"/>
            <a:ext cx="5915025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442099"/>
            <a:ext cx="5915025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8281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369219"/>
            <a:ext cx="291465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369219"/>
            <a:ext cx="291465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6639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73845"/>
            <a:ext cx="5915025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260872"/>
            <a:ext cx="2901255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878806"/>
            <a:ext cx="2901255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260872"/>
            <a:ext cx="2915543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878806"/>
            <a:ext cx="2915543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756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1261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306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42900"/>
            <a:ext cx="2211884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740570"/>
            <a:ext cx="3471863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543050"/>
            <a:ext cx="2211884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5707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42900"/>
            <a:ext cx="2211884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740570"/>
            <a:ext cx="3471863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543050"/>
            <a:ext cx="2211884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69785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30985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273844"/>
            <a:ext cx="1478756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73844"/>
            <a:ext cx="4350544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8649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015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273845"/>
            <a:ext cx="5915025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369219"/>
            <a:ext cx="5915025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4767264"/>
            <a:ext cx="1543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4767264"/>
            <a:ext cx="23145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4767264"/>
            <a:ext cx="1543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269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54864" cy="38576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/>
          <p:cNvSpPr/>
          <p:nvPr/>
        </p:nvSpPr>
        <p:spPr>
          <a:xfrm>
            <a:off x="5349240" y="94298"/>
            <a:ext cx="2400300" cy="24003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2"/>
          <p:cNvSpPr/>
          <p:nvPr/>
        </p:nvSpPr>
        <p:spPr>
          <a:xfrm>
            <a:off x="5692140" y="437198"/>
            <a:ext cx="1714500" cy="1714500"/>
          </a:xfrm>
          <a:prstGeom prst="ellipse">
            <a:avLst/>
          </a:prstGeom>
          <a:solidFill>
            <a:srgbClr val="14B8A6">
              <a:alpha val="25000"/>
            </a:srgbClr>
          </a:solidFill>
          <a:ln w="12700">
            <a:solidFill>
              <a:srgbClr val="14B8A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342900" y="1397318"/>
            <a:ext cx="54864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kern="0" spc="30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ASSESSMENT</a:t>
            </a:r>
            <a:endParaRPr lang="en-US" sz="825"/>
          </a:p>
        </p:txBody>
      </p:sp>
      <p:sp>
        <p:nvSpPr>
          <p:cNvPr id="6" name="Text 4"/>
          <p:cNvSpPr/>
          <p:nvPr/>
        </p:nvSpPr>
        <p:spPr>
          <a:xfrm>
            <a:off x="342900" y="1705928"/>
            <a:ext cx="5829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9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Urbanisation Prospects</a:t>
            </a:r>
            <a:endParaRPr lang="en-US" sz="3900"/>
          </a:p>
        </p:txBody>
      </p:sp>
      <p:sp>
        <p:nvSpPr>
          <p:cNvPr id="7" name="Text 5"/>
          <p:cNvSpPr/>
          <p:nvPr/>
        </p:nvSpPr>
        <p:spPr>
          <a:xfrm>
            <a:off x="342900" y="2528888"/>
            <a:ext cx="4800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 Opportunity Analysis</a:t>
            </a:r>
            <a:endParaRPr lang="en-US" sz="1650"/>
          </a:p>
        </p:txBody>
      </p:sp>
      <p:sp>
        <p:nvSpPr>
          <p:cNvPr id="8" name="Shape 6"/>
          <p:cNvSpPr/>
          <p:nvPr/>
        </p:nvSpPr>
        <p:spPr>
          <a:xfrm>
            <a:off x="342900" y="2988374"/>
            <a:ext cx="240030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34290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235</a:t>
            </a:r>
            <a:endParaRPr lang="en-US" sz="1950"/>
          </a:p>
        </p:txBody>
      </p:sp>
      <p:sp>
        <p:nvSpPr>
          <p:cNvPr id="10" name="Text 8"/>
          <p:cNvSpPr/>
          <p:nvPr/>
        </p:nvSpPr>
        <p:spPr>
          <a:xfrm>
            <a:off x="34290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Analysed</a:t>
            </a:r>
            <a:endParaRPr lang="en-US" sz="750"/>
          </a:p>
        </p:txBody>
      </p:sp>
      <p:sp>
        <p:nvSpPr>
          <p:cNvPr id="11" name="Text 9"/>
          <p:cNvSpPr/>
          <p:nvPr/>
        </p:nvSpPr>
        <p:spPr>
          <a:xfrm>
            <a:off x="195453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1950–2050</a:t>
            </a:r>
            <a:endParaRPr lang="en-US" sz="1950"/>
          </a:p>
        </p:txBody>
      </p:sp>
      <p:sp>
        <p:nvSpPr>
          <p:cNvPr id="12" name="Text 10"/>
          <p:cNvSpPr/>
          <p:nvPr/>
        </p:nvSpPr>
        <p:spPr>
          <a:xfrm>
            <a:off x="195453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Range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356616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50"/>
          </a:p>
        </p:txBody>
      </p:sp>
      <p:sp>
        <p:nvSpPr>
          <p:cNvPr id="14" name="Text 12"/>
          <p:cNvSpPr/>
          <p:nvPr/>
        </p:nvSpPr>
        <p:spPr>
          <a:xfrm>
            <a:off x="356616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750"/>
          </a:p>
        </p:txBody>
      </p:sp>
      <p:sp>
        <p:nvSpPr>
          <p:cNvPr id="15" name="Text 13"/>
          <p:cNvSpPr/>
          <p:nvPr/>
        </p:nvSpPr>
        <p:spPr>
          <a:xfrm>
            <a:off x="5177790" y="3111818"/>
            <a:ext cx="15087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1950"/>
          </a:p>
        </p:txBody>
      </p:sp>
      <p:sp>
        <p:nvSpPr>
          <p:cNvPr id="16" name="Text 14"/>
          <p:cNvSpPr/>
          <p:nvPr/>
        </p:nvSpPr>
        <p:spPr>
          <a:xfrm>
            <a:off x="5177790" y="353701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Opportunity Markets</a:t>
            </a:r>
            <a:endParaRPr lang="en-US" sz="750"/>
          </a:p>
        </p:txBody>
      </p:sp>
      <p:sp>
        <p:nvSpPr>
          <p:cNvPr id="17" name="Shape 15"/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Medallion Architecture</a:t>
            </a:r>
            <a:endParaRPr lang="en-US" sz="7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814388"/>
            <a:ext cx="6172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2700"/>
          </a:p>
        </p:txBody>
      </p:sp>
      <p:sp>
        <p:nvSpPr>
          <p:cNvPr id="4" name="Shape 2"/>
          <p:cNvSpPr/>
          <p:nvPr/>
        </p:nvSpPr>
        <p:spPr>
          <a:xfrm>
            <a:off x="342900" y="1363028"/>
            <a:ext cx="6172200" cy="7543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480060" y="1397318"/>
            <a:ext cx="5897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00" b="1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r>
              <a:rPr lang="en-US" sz="15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global markets represent the best opportunity for product expansion?</a:t>
            </a:r>
            <a:r>
              <a:rPr lang="en-US" sz="2100" b="1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100"/>
          </a:p>
        </p:txBody>
      </p:sp>
      <p:sp>
        <p:nvSpPr>
          <p:cNvPr id="6" name="Shape 4"/>
          <p:cNvSpPr/>
          <p:nvPr/>
        </p:nvSpPr>
        <p:spPr>
          <a:xfrm>
            <a:off x="342900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342900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>
                <a:solidFill>
                  <a:srgbClr val="000000"/>
                </a:solidFill>
              </a:rPr>
              <a:t>🌍</a:t>
            </a:r>
            <a:endParaRPr lang="en-US" sz="2100"/>
          </a:p>
        </p:txBody>
      </p:sp>
      <p:sp>
        <p:nvSpPr>
          <p:cNvPr id="8" name="Text 6"/>
          <p:cNvSpPr/>
          <p:nvPr/>
        </p:nvSpPr>
        <p:spPr>
          <a:xfrm>
            <a:off x="411480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Scale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445770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 countries across 6 continents with data from 1950 to 2050</a:t>
            </a:r>
            <a:endParaRPr lang="en-US" sz="825"/>
          </a:p>
        </p:txBody>
      </p:sp>
      <p:sp>
        <p:nvSpPr>
          <p:cNvPr id="10" name="Shape 8"/>
          <p:cNvSpPr/>
          <p:nvPr/>
        </p:nvSpPr>
        <p:spPr>
          <a:xfrm>
            <a:off x="2455164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2455164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>
                <a:solidFill>
                  <a:srgbClr val="000000"/>
                </a:solidFill>
              </a:rPr>
              <a:t>📊</a:t>
            </a:r>
            <a:endParaRPr lang="en-US" sz="2100"/>
          </a:p>
        </p:txBody>
      </p:sp>
      <p:sp>
        <p:nvSpPr>
          <p:cNvPr id="12" name="Text 10"/>
          <p:cNvSpPr/>
          <p:nvPr/>
        </p:nvSpPr>
        <p:spPr>
          <a:xfrm>
            <a:off x="2523744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Sources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2558034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datasets with different formats, naming conventions and coverage</a:t>
            </a:r>
            <a:endParaRPr lang="en-US" sz="825"/>
          </a:p>
        </p:txBody>
      </p:sp>
      <p:sp>
        <p:nvSpPr>
          <p:cNvPr id="14" name="Shape 12"/>
          <p:cNvSpPr/>
          <p:nvPr/>
        </p:nvSpPr>
        <p:spPr>
          <a:xfrm>
            <a:off x="4567428" y="2254568"/>
            <a:ext cx="1988820" cy="18516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4567428" y="2323148"/>
            <a:ext cx="19888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>
                <a:solidFill>
                  <a:srgbClr val="000000"/>
                </a:solidFill>
              </a:rPr>
              <a:t>💡</a:t>
            </a:r>
            <a:endParaRPr lang="en-US" sz="2100"/>
          </a:p>
        </p:txBody>
      </p:sp>
      <p:sp>
        <p:nvSpPr>
          <p:cNvPr id="16" name="Text 14"/>
          <p:cNvSpPr/>
          <p:nvPr/>
        </p:nvSpPr>
        <p:spPr>
          <a:xfrm>
            <a:off x="4636008" y="273462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Actionable Insight</a:t>
            </a:r>
            <a:endParaRPr lang="en-US" sz="1050"/>
          </a:p>
        </p:txBody>
      </p:sp>
      <p:sp>
        <p:nvSpPr>
          <p:cNvPr id="17" name="Text 15"/>
          <p:cNvSpPr/>
          <p:nvPr/>
        </p:nvSpPr>
        <p:spPr>
          <a:xfrm>
            <a:off x="4670298" y="3043238"/>
            <a:ext cx="17830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marketing teams need clear, ranked market recommendations</a:t>
            </a:r>
            <a:endParaRPr lang="en-US" sz="825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Architecture</a:t>
            </a:r>
            <a:endParaRPr lang="en-US" sz="2700"/>
          </a:p>
        </p:txBody>
      </p:sp>
      <p:sp>
        <p:nvSpPr>
          <p:cNvPr id="4" name="Text 2"/>
          <p:cNvSpPr/>
          <p:nvPr/>
        </p:nvSpPr>
        <p:spPr>
          <a:xfrm>
            <a:off x="342900" y="1205294"/>
            <a:ext cx="6172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 — Bronze → Silver → Gold</a:t>
            </a:r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2057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205740" y="1568768"/>
            <a:ext cx="1165860" cy="30861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5"/>
          <p:cNvSpPr/>
          <p:nvPr/>
        </p:nvSpPr>
        <p:spPr>
          <a:xfrm>
            <a:off x="2057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825"/>
          </a:p>
        </p:txBody>
      </p:sp>
      <p:sp>
        <p:nvSpPr>
          <p:cNvPr id="8" name="Text 6"/>
          <p:cNvSpPr/>
          <p:nvPr/>
        </p:nvSpPr>
        <p:spPr>
          <a:xfrm>
            <a:off x="2400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CSV Files</a:t>
            </a:r>
            <a:endParaRPr lang="en-US" sz="675"/>
          </a:p>
        </p:txBody>
      </p:sp>
      <p:sp>
        <p:nvSpPr>
          <p:cNvPr id="9" name="Text 7"/>
          <p:cNvSpPr/>
          <p:nvPr/>
        </p:nvSpPr>
        <p:spPr>
          <a:xfrm>
            <a:off x="2606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landing zone</a:t>
            </a:r>
            <a:endParaRPr lang="en-US" sz="750"/>
          </a:p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· WID · Continents · WHO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13853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16459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>
                <a:solidFill>
                  <a:srgbClr val="0D9488"/>
                </a:solidFill>
              </a:rPr>
              <a:t>▶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15773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B4530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1577340" y="1568768"/>
            <a:ext cx="1165860" cy="30861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Text 12"/>
          <p:cNvSpPr/>
          <p:nvPr/>
        </p:nvSpPr>
        <p:spPr>
          <a:xfrm>
            <a:off x="15773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825"/>
          </a:p>
        </p:txBody>
      </p:sp>
      <p:sp>
        <p:nvSpPr>
          <p:cNvPr id="15" name="Text 13"/>
          <p:cNvSpPr/>
          <p:nvPr/>
        </p:nvSpPr>
        <p:spPr>
          <a:xfrm>
            <a:off x="16116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Delta Tables</a:t>
            </a:r>
            <a:endParaRPr lang="en-US" sz="675"/>
          </a:p>
        </p:txBody>
      </p:sp>
      <p:sp>
        <p:nvSpPr>
          <p:cNvPr id="16" name="Text 14"/>
          <p:cNvSpPr/>
          <p:nvPr/>
        </p:nvSpPr>
        <p:spPr>
          <a:xfrm>
            <a:off x="16322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copy + metadata</a:t>
            </a:r>
            <a:endParaRPr lang="en-US" sz="750"/>
          </a:p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preserved</a:t>
            </a:r>
            <a:endParaRPr lang="en-US" sz="750"/>
          </a:p>
        </p:txBody>
      </p:sp>
      <p:sp>
        <p:nvSpPr>
          <p:cNvPr id="17" name="Shape 15"/>
          <p:cNvSpPr/>
          <p:nvPr/>
        </p:nvSpPr>
        <p:spPr>
          <a:xfrm>
            <a:off x="27569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30175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>
                <a:solidFill>
                  <a:srgbClr val="0D9488"/>
                </a:solidFill>
              </a:rPr>
              <a:t>▶</a:t>
            </a:r>
            <a:endParaRPr lang="en-US" sz="900"/>
          </a:p>
        </p:txBody>
      </p:sp>
      <p:sp>
        <p:nvSpPr>
          <p:cNvPr id="19" name="Shape 17"/>
          <p:cNvSpPr/>
          <p:nvPr/>
        </p:nvSpPr>
        <p:spPr>
          <a:xfrm>
            <a:off x="29489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2948940" y="1568768"/>
            <a:ext cx="1165860" cy="30861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29489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825"/>
          </a:p>
        </p:txBody>
      </p:sp>
      <p:sp>
        <p:nvSpPr>
          <p:cNvPr id="22" name="Text 20"/>
          <p:cNvSpPr/>
          <p:nvPr/>
        </p:nvSpPr>
        <p:spPr>
          <a:xfrm>
            <a:off x="29832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&amp; Joined</a:t>
            </a:r>
            <a:endParaRPr lang="en-US" sz="675"/>
          </a:p>
        </p:txBody>
      </p:sp>
      <p:sp>
        <p:nvSpPr>
          <p:cNvPr id="23" name="Text 21"/>
          <p:cNvSpPr/>
          <p:nvPr/>
        </p:nvSpPr>
        <p:spPr>
          <a:xfrm>
            <a:off x="30038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Standardised, joined</a:t>
            </a:r>
            <a:endParaRPr lang="en-US" sz="750"/>
          </a:p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23,735 rows</a:t>
            </a:r>
            <a:endParaRPr lang="en-US" sz="750"/>
          </a:p>
        </p:txBody>
      </p:sp>
      <p:sp>
        <p:nvSpPr>
          <p:cNvPr id="24" name="Shape 22"/>
          <p:cNvSpPr/>
          <p:nvPr/>
        </p:nvSpPr>
        <p:spPr>
          <a:xfrm>
            <a:off x="41285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23"/>
          <p:cNvSpPr/>
          <p:nvPr/>
        </p:nvSpPr>
        <p:spPr>
          <a:xfrm>
            <a:off x="43891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>
                <a:solidFill>
                  <a:srgbClr val="0D9488"/>
                </a:solidFill>
              </a:rPr>
              <a:t>▶</a:t>
            </a:r>
            <a:endParaRPr lang="en-US" sz="900"/>
          </a:p>
        </p:txBody>
      </p:sp>
      <p:sp>
        <p:nvSpPr>
          <p:cNvPr id="26" name="Shape 24"/>
          <p:cNvSpPr/>
          <p:nvPr/>
        </p:nvSpPr>
        <p:spPr>
          <a:xfrm>
            <a:off x="43205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7" name="Shape 25"/>
          <p:cNvSpPr/>
          <p:nvPr/>
        </p:nvSpPr>
        <p:spPr>
          <a:xfrm>
            <a:off x="4320540" y="1568768"/>
            <a:ext cx="1165860" cy="30861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26"/>
          <p:cNvSpPr/>
          <p:nvPr/>
        </p:nvSpPr>
        <p:spPr>
          <a:xfrm>
            <a:off x="43205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825"/>
          </a:p>
        </p:txBody>
      </p:sp>
      <p:sp>
        <p:nvSpPr>
          <p:cNvPr id="29" name="Text 27"/>
          <p:cNvSpPr/>
          <p:nvPr/>
        </p:nvSpPr>
        <p:spPr>
          <a:xfrm>
            <a:off x="43548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Ready</a:t>
            </a:r>
            <a:endParaRPr lang="en-US" sz="675"/>
          </a:p>
        </p:txBody>
      </p:sp>
      <p:sp>
        <p:nvSpPr>
          <p:cNvPr id="30" name="Text 28"/>
          <p:cNvSpPr/>
          <p:nvPr/>
        </p:nvSpPr>
        <p:spPr>
          <a:xfrm>
            <a:off x="43754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aggregated tables</a:t>
            </a:r>
            <a:endParaRPr lang="en-US" sz="750"/>
          </a:p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for PowerBI</a:t>
            </a:r>
            <a:endParaRPr lang="en-US" sz="750"/>
          </a:p>
        </p:txBody>
      </p:sp>
      <p:sp>
        <p:nvSpPr>
          <p:cNvPr id="31" name="Shape 29"/>
          <p:cNvSpPr/>
          <p:nvPr/>
        </p:nvSpPr>
        <p:spPr>
          <a:xfrm>
            <a:off x="5500116" y="2666048"/>
            <a:ext cx="384048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2" name="Text 30"/>
          <p:cNvSpPr/>
          <p:nvPr/>
        </p:nvSpPr>
        <p:spPr>
          <a:xfrm>
            <a:off x="5760720" y="2563178"/>
            <a:ext cx="171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>
                <a:solidFill>
                  <a:srgbClr val="0D9488"/>
                </a:solidFill>
              </a:rPr>
              <a:t>▶</a:t>
            </a:r>
            <a:endParaRPr lang="en-US" sz="900"/>
          </a:p>
        </p:txBody>
      </p:sp>
      <p:sp>
        <p:nvSpPr>
          <p:cNvPr id="33" name="Shape 31"/>
          <p:cNvSpPr/>
          <p:nvPr/>
        </p:nvSpPr>
        <p:spPr>
          <a:xfrm>
            <a:off x="5692140" y="1568768"/>
            <a:ext cx="116586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4" name="Shape 32"/>
          <p:cNvSpPr/>
          <p:nvPr/>
        </p:nvSpPr>
        <p:spPr>
          <a:xfrm>
            <a:off x="5692140" y="1568768"/>
            <a:ext cx="1165860" cy="30861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Text 33"/>
          <p:cNvSpPr/>
          <p:nvPr/>
        </p:nvSpPr>
        <p:spPr>
          <a:xfrm>
            <a:off x="5692140" y="1582484"/>
            <a:ext cx="1165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POWERBI</a:t>
            </a:r>
            <a:endParaRPr lang="en-US" sz="825"/>
          </a:p>
        </p:txBody>
      </p:sp>
      <p:sp>
        <p:nvSpPr>
          <p:cNvPr id="36" name="Text 34"/>
          <p:cNvSpPr/>
          <p:nvPr/>
        </p:nvSpPr>
        <p:spPr>
          <a:xfrm>
            <a:off x="5726430" y="1925384"/>
            <a:ext cx="10972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675"/>
          </a:p>
        </p:txBody>
      </p:sp>
      <p:sp>
        <p:nvSpPr>
          <p:cNvPr id="37" name="Text 35"/>
          <p:cNvSpPr/>
          <p:nvPr/>
        </p:nvSpPr>
        <p:spPr>
          <a:xfrm>
            <a:off x="5747004" y="2220278"/>
            <a:ext cx="10561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dashboard</a:t>
            </a:r>
            <a:endParaRPr lang="en-US" sz="750"/>
          </a:p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visuals</a:t>
            </a:r>
            <a:endParaRPr lang="en-US" sz="750"/>
          </a:p>
        </p:txBody>
      </p:sp>
      <p:sp>
        <p:nvSpPr>
          <p:cNvPr id="38" name="Shape 36"/>
          <p:cNvSpPr/>
          <p:nvPr/>
        </p:nvSpPr>
        <p:spPr>
          <a:xfrm>
            <a:off x="205740" y="4003358"/>
            <a:ext cx="6446520" cy="30861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Text 37"/>
          <p:cNvSpPr/>
          <p:nvPr/>
        </p:nvSpPr>
        <p:spPr>
          <a:xfrm>
            <a:off x="274320" y="4023932"/>
            <a:ext cx="63093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 Separation of Concerns  •  Single Source of Truth  •  Idempotency  •  Transparency</a:t>
            </a:r>
            <a:endParaRPr lang="en-US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0BBA91-2F0F-9C81-E78A-F5AF47739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605734-FA76-E444-D0BB-0A52F7844822}"/>
              </a:ext>
            </a:extLst>
          </p:cNvPr>
          <p:cNvSpPr/>
          <p:nvPr/>
        </p:nvSpPr>
        <p:spPr>
          <a:xfrm>
            <a:off x="0" y="642938"/>
            <a:ext cx="54864" cy="38576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43618C-CAAF-A616-C8B6-744944726FA2}"/>
              </a:ext>
            </a:extLst>
          </p:cNvPr>
          <p:cNvSpPr/>
          <p:nvPr/>
        </p:nvSpPr>
        <p:spPr>
          <a:xfrm>
            <a:off x="342900" y="692376"/>
            <a:ext cx="54864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err="1">
                <a:solidFill>
                  <a:srgbClr val="2BAEAB"/>
                </a:solidFill>
              </a:rPr>
              <a:t>Urbanisation</a:t>
            </a:r>
            <a:r>
              <a:rPr lang="en-US" b="1">
                <a:solidFill>
                  <a:srgbClr val="2BAEAB"/>
                </a:solidFill>
              </a:rPr>
              <a:t> Prospects - Data Pipeline Architecture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BCBDBB6-B182-D688-96C6-E977C5C19A32}"/>
              </a:ext>
            </a:extLst>
          </p:cNvPr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4FB5E47-B71E-2FE9-9B44-E8220F4D70F7}"/>
              </a:ext>
            </a:extLst>
          </p:cNvPr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Medallion Architecture</a:t>
            </a:r>
            <a:endParaRPr lang="en-US" sz="750"/>
          </a:p>
        </p:txBody>
      </p:sp>
      <p:pic>
        <p:nvPicPr>
          <p:cNvPr id="4" name="Picture 3" descr="A diagram of a business structure&#10;&#10;AI-generated content may be incorrect.">
            <a:extLst>
              <a:ext uri="{FF2B5EF4-FFF2-40B4-BE49-F238E27FC236}">
                <a16:creationId xmlns:a16="http://schemas.microsoft.com/office/drawing/2014/main" id="{43747789-D68F-A930-4098-3FD10610C1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4000"/>
          </a:blip>
          <a:stretch>
            <a:fillRect/>
          </a:stretch>
        </p:blipFill>
        <p:spPr>
          <a:xfrm>
            <a:off x="0" y="1100604"/>
            <a:ext cx="6858000" cy="294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97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Sources</a:t>
            </a:r>
            <a:endParaRPr lang="en-US" sz="270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1328738"/>
          <a:ext cx="6172200" cy="19202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8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Columns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World Urbanisation Prospects 2018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27,573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Year, Urban Pop, Rural Pop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 regional aggregates — filtered out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Inequality Database — Pretax Income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Year, Mean Income, Gini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coverage — 64% of countries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Countries &amp; Continents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Continent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mismatches with other datasets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OWID Country to WHO Regions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Entity, WHO Region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country name format</a:t>
                      </a:r>
                      <a:endParaRPr lang="en-US" sz="8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342900" y="3386138"/>
            <a:ext cx="6172200" cy="85725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" name="Text 3"/>
          <p:cNvSpPr/>
          <p:nvPr/>
        </p:nvSpPr>
        <p:spPr>
          <a:xfrm>
            <a:off x="480060" y="3441002"/>
            <a:ext cx="58978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 Key Engineering Challenge</a:t>
            </a:r>
            <a:endParaRPr lang="en-US" sz="975"/>
          </a:p>
        </p:txBody>
      </p:sp>
      <p:sp>
        <p:nvSpPr>
          <p:cNvPr id="7" name="Text 4"/>
          <p:cNvSpPr/>
          <p:nvPr/>
        </p:nvSpPr>
        <p:spPr>
          <a:xfrm>
            <a:off x="480060" y="3715322"/>
            <a:ext cx="589788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datasets refer to countries differently — full UN names, common names, ISO codes. I solved this by building a Country Dimension Table that standardises 233 countries into a single source of truth.</a:t>
            </a:r>
            <a:endParaRPr lang="en-US" sz="825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Data Engineering Challenge</a:t>
            </a:r>
            <a:endParaRPr lang="en-US" sz="2000"/>
          </a:p>
        </p:txBody>
      </p:sp>
      <p:sp>
        <p:nvSpPr>
          <p:cNvPr id="4" name="Text 2"/>
          <p:cNvSpPr/>
          <p:nvPr/>
        </p:nvSpPr>
        <p:spPr>
          <a:xfrm>
            <a:off x="342900" y="1205294"/>
            <a:ext cx="6172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Name Problem</a:t>
            </a:r>
            <a:endParaRPr lang="en-US" sz="12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1534478"/>
          <a:ext cx="3771900" cy="150876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'South Africa' appears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Urbanisation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 Income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Countries &amp; Continents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OWID WHO Regions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  /  ZAF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4320540" y="1534478"/>
            <a:ext cx="2194560" cy="150876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7" name="Text 4"/>
          <p:cNvSpPr/>
          <p:nvPr/>
        </p:nvSpPr>
        <p:spPr>
          <a:xfrm>
            <a:off x="4389120" y="158934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Solution</a:t>
            </a:r>
            <a:endParaRPr lang="en-US" sz="1050"/>
          </a:p>
        </p:txBody>
      </p:sp>
      <p:sp>
        <p:nvSpPr>
          <p:cNvPr id="8" name="Text 5"/>
          <p:cNvSpPr/>
          <p:nvPr/>
        </p:nvSpPr>
        <p:spPr>
          <a:xfrm>
            <a:off x="4389120" y="1911668"/>
            <a:ext cx="205740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Dimension Table</a:t>
            </a:r>
            <a:endParaRPr lang="en-US" sz="825"/>
          </a:p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25"/>
          </a:p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233 countries standardised</a:t>
            </a:r>
            <a:endParaRPr lang="en-US" sz="825"/>
          </a:p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source of truth</a:t>
            </a:r>
            <a:endParaRPr lang="en-US" sz="825"/>
          </a:p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Continent + WHO region</a:t>
            </a:r>
            <a:endParaRPr lang="en-US" sz="825"/>
          </a:p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fixes applied</a:t>
            </a:r>
            <a:endParaRPr lang="en-US" sz="825"/>
          </a:p>
        </p:txBody>
      </p:sp>
      <p:sp>
        <p:nvSpPr>
          <p:cNvPr id="9" name="Shape 6"/>
          <p:cNvSpPr/>
          <p:nvPr/>
        </p:nvSpPr>
        <p:spPr>
          <a:xfrm>
            <a:off x="342900" y="3146108"/>
            <a:ext cx="6172200" cy="106299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0" name="Text 7"/>
          <p:cNvSpPr/>
          <p:nvPr/>
        </p:nvSpPr>
        <p:spPr>
          <a:xfrm>
            <a:off x="480060" y="3200972"/>
            <a:ext cx="27432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 Fixes Applied:</a:t>
            </a:r>
            <a:endParaRPr lang="en-US" sz="900"/>
          </a:p>
        </p:txBody>
      </p:sp>
      <p:sp>
        <p:nvSpPr>
          <p:cNvPr id="11" name="Text 8"/>
          <p:cNvSpPr/>
          <p:nvPr/>
        </p:nvSpPr>
        <p:spPr>
          <a:xfrm>
            <a:off x="480060" y="3454718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Swaziland → Eswatini</a:t>
            </a:r>
            <a:endParaRPr lang="en-US" sz="825"/>
          </a:p>
        </p:txBody>
      </p:sp>
      <p:sp>
        <p:nvSpPr>
          <p:cNvPr id="12" name="Text 9"/>
          <p:cNvSpPr/>
          <p:nvPr/>
        </p:nvSpPr>
        <p:spPr>
          <a:xfrm>
            <a:off x="3566160" y="3454718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Macedonia → North Macedonia</a:t>
            </a:r>
            <a:endParaRPr lang="en-US" sz="825"/>
          </a:p>
        </p:txBody>
      </p:sp>
      <p:sp>
        <p:nvSpPr>
          <p:cNvPr id="13" name="Text 10"/>
          <p:cNvSpPr/>
          <p:nvPr/>
        </p:nvSpPr>
        <p:spPr>
          <a:xfrm>
            <a:off x="480060" y="3742754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Czech Republic → Czechia</a:t>
            </a:r>
            <a:endParaRPr lang="en-US" sz="825"/>
          </a:p>
        </p:txBody>
      </p:sp>
      <p:sp>
        <p:nvSpPr>
          <p:cNvPr id="14" name="Text 11"/>
          <p:cNvSpPr/>
          <p:nvPr/>
        </p:nvSpPr>
        <p:spPr>
          <a:xfrm>
            <a:off x="3566160" y="3742754"/>
            <a:ext cx="29489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38 regional aggregates removed</a:t>
            </a:r>
            <a:endParaRPr lang="en-US" sz="825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Results</a:t>
            </a:r>
            <a:endParaRPr lang="en-US" sz="270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274320" y="1328738"/>
            <a:ext cx="1988820" cy="3429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0861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LAYER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30861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</a:t>
            </a:r>
            <a:endParaRPr lang="en-US" sz="1650"/>
          </a:p>
        </p:txBody>
      </p:sp>
      <p:sp>
        <p:nvSpPr>
          <p:cNvPr id="8" name="Text 6"/>
          <p:cNvSpPr/>
          <p:nvPr/>
        </p:nvSpPr>
        <p:spPr>
          <a:xfrm>
            <a:off x="37719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bronze_urbanisation  27,573 rows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37719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bronze_wid_income  7,078 rows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37719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bronze_continents  285 rows</a:t>
            </a:r>
            <a:endParaRPr lang="en-US" sz="750"/>
          </a:p>
        </p:txBody>
      </p:sp>
      <p:sp>
        <p:nvSpPr>
          <p:cNvPr id="11" name="Text 9"/>
          <p:cNvSpPr/>
          <p:nvPr/>
        </p:nvSpPr>
        <p:spPr>
          <a:xfrm>
            <a:off x="37719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bronze_who_regions  194 rows</a:t>
            </a:r>
            <a:endParaRPr lang="en-US" sz="750"/>
          </a:p>
        </p:txBody>
      </p:sp>
      <p:sp>
        <p:nvSpPr>
          <p:cNvPr id="12" name="Shape 10"/>
          <p:cNvSpPr/>
          <p:nvPr/>
        </p:nvSpPr>
        <p:spPr>
          <a:xfrm>
            <a:off x="240030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2400300" y="1328738"/>
            <a:ext cx="1988820" cy="3429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Text 12"/>
          <p:cNvSpPr/>
          <p:nvPr/>
        </p:nvSpPr>
        <p:spPr>
          <a:xfrm>
            <a:off x="243459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243459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Table</a:t>
            </a:r>
            <a:endParaRPr lang="en-US" sz="1650"/>
          </a:p>
        </p:txBody>
      </p:sp>
      <p:sp>
        <p:nvSpPr>
          <p:cNvPr id="16" name="Text 14"/>
          <p:cNvSpPr/>
          <p:nvPr/>
        </p:nvSpPr>
        <p:spPr>
          <a:xfrm>
            <a:off x="250317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silver_urbanisation  23,735 rows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250317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233 countries mapped</a:t>
            </a:r>
            <a:endParaRPr lang="en-US" sz="750"/>
          </a:p>
        </p:txBody>
      </p:sp>
      <p:sp>
        <p:nvSpPr>
          <p:cNvPr id="18" name="Text 16"/>
          <p:cNvSpPr/>
          <p:nvPr/>
        </p:nvSpPr>
        <p:spPr>
          <a:xfrm>
            <a:off x="250317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1950 – 2050 coverage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250317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+ Projected</a:t>
            </a:r>
            <a:endParaRPr lang="en-US" sz="750"/>
          </a:p>
        </p:txBody>
      </p:sp>
      <p:sp>
        <p:nvSpPr>
          <p:cNvPr id="20" name="Shape 18"/>
          <p:cNvSpPr/>
          <p:nvPr/>
        </p:nvSpPr>
        <p:spPr>
          <a:xfrm>
            <a:off x="4526280" y="1328738"/>
            <a:ext cx="19888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1" name="Shape 19"/>
          <p:cNvSpPr/>
          <p:nvPr/>
        </p:nvSpPr>
        <p:spPr>
          <a:xfrm>
            <a:off x="4526280" y="1328738"/>
            <a:ext cx="1988820" cy="3429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20"/>
          <p:cNvSpPr/>
          <p:nvPr/>
        </p:nvSpPr>
        <p:spPr>
          <a:xfrm>
            <a:off x="4560570" y="1342454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4560570" y="1726502"/>
            <a:ext cx="19202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</a:t>
            </a:r>
            <a:endParaRPr lang="en-US" sz="1650"/>
          </a:p>
        </p:txBody>
      </p:sp>
      <p:sp>
        <p:nvSpPr>
          <p:cNvPr id="24" name="Text 22"/>
          <p:cNvSpPr/>
          <p:nvPr/>
        </p:nvSpPr>
        <p:spPr>
          <a:xfrm>
            <a:off x="4629150" y="211740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gold_continent_trends  606 rows</a:t>
            </a:r>
            <a:endParaRPr lang="en-US" sz="750"/>
          </a:p>
        </p:txBody>
      </p:sp>
      <p:sp>
        <p:nvSpPr>
          <p:cNvPr id="25" name="Text 23"/>
          <p:cNvSpPr/>
          <p:nvPr/>
        </p:nvSpPr>
        <p:spPr>
          <a:xfrm>
            <a:off x="4629150" y="247402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gold_growth_rates  15,824 rows</a:t>
            </a:r>
            <a:endParaRPr lang="en-US" sz="750"/>
          </a:p>
        </p:txBody>
      </p:sp>
      <p:sp>
        <p:nvSpPr>
          <p:cNvPr id="26" name="Text 24"/>
          <p:cNvSpPr/>
          <p:nvPr/>
        </p:nvSpPr>
        <p:spPr>
          <a:xfrm>
            <a:off x="4629150" y="283064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gold_income_vs_urbanisation  4,158</a:t>
            </a:r>
            <a:endParaRPr lang="en-US" sz="750"/>
          </a:p>
        </p:txBody>
      </p:sp>
      <p:sp>
        <p:nvSpPr>
          <p:cNvPr id="27" name="Text 25"/>
          <p:cNvSpPr/>
          <p:nvPr/>
        </p:nvSpPr>
        <p:spPr>
          <a:xfrm>
            <a:off x="4629150" y="31872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gold_market_opportunity  4,158</a:t>
            </a:r>
            <a:endParaRPr lang="en-US" sz="750"/>
          </a:p>
        </p:txBody>
      </p:sp>
      <p:sp>
        <p:nvSpPr>
          <p:cNvPr id="28" name="Shape 26"/>
          <p:cNvSpPr/>
          <p:nvPr/>
        </p:nvSpPr>
        <p:spPr>
          <a:xfrm>
            <a:off x="274320" y="4037648"/>
            <a:ext cx="6309360" cy="288036"/>
          </a:xfrm>
          <a:prstGeom prst="rect">
            <a:avLst/>
          </a:prstGeom>
          <a:solidFill>
            <a:srgbClr val="0D1B2A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9" name="Text 27"/>
          <p:cNvSpPr/>
          <p:nvPr/>
        </p:nvSpPr>
        <p:spPr>
          <a:xfrm>
            <a:off x="377190" y="4058222"/>
            <a:ext cx="6172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Data Quality Check:  PASS  —  All validations passing  •  235 countries  •  Zero duplicates  •  64% income coverage documented</a:t>
            </a:r>
            <a:endParaRPr lang="en-US" sz="825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Business Insights</a:t>
            </a:r>
            <a:endParaRPr lang="en-US" sz="270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274320" y="1328738"/>
            <a:ext cx="54864" cy="8778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77190" y="1363028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100"/>
          </a:p>
        </p:txBody>
      </p:sp>
      <p:sp>
        <p:nvSpPr>
          <p:cNvPr id="7" name="Text 5"/>
          <p:cNvSpPr/>
          <p:nvPr/>
        </p:nvSpPr>
        <p:spPr>
          <a:xfrm>
            <a:off x="925830" y="1383602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High Opportunity Markets Identified</a:t>
            </a:r>
            <a:endParaRPr lang="en-US" sz="1050"/>
          </a:p>
        </p:txBody>
      </p:sp>
      <p:sp>
        <p:nvSpPr>
          <p:cNvPr id="8" name="Text 6"/>
          <p:cNvSpPr/>
          <p:nvPr/>
        </p:nvSpPr>
        <p:spPr>
          <a:xfrm>
            <a:off x="925830" y="1671638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composite scoring model — combining urbanisation rate, mean income and population size — identified 32 countries that score in the top tier across all three dimensions. These are the markets the sales team should prioritise for product expansion.</a:t>
            </a:r>
            <a:endParaRPr lang="en-US" sz="788"/>
          </a:p>
        </p:txBody>
      </p:sp>
      <p:sp>
        <p:nvSpPr>
          <p:cNvPr id="9" name="Shape 7"/>
          <p:cNvSpPr/>
          <p:nvPr/>
        </p:nvSpPr>
        <p:spPr>
          <a:xfrm>
            <a:off x="274320" y="2302574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274320" y="2302574"/>
            <a:ext cx="54864" cy="8778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377190" y="2336864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100"/>
          </a:p>
        </p:txBody>
      </p:sp>
      <p:sp>
        <p:nvSpPr>
          <p:cNvPr id="12" name="Text 10"/>
          <p:cNvSpPr/>
          <p:nvPr/>
        </p:nvSpPr>
        <p:spPr>
          <a:xfrm>
            <a:off x="925830" y="2357438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 is Urbanising Faster Than Any Other Region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925830" y="2645474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Africa is projected to double its urban population by 2050. Combined with a young demographic and rising incomes in key markets, this represents the most significant long-term growth opportunity — though high income inequality in many markets remains a risk factor.</a:t>
            </a:r>
            <a:endParaRPr lang="en-US" sz="788"/>
          </a:p>
        </p:txBody>
      </p:sp>
      <p:sp>
        <p:nvSpPr>
          <p:cNvPr id="14" name="Shape 12"/>
          <p:cNvSpPr/>
          <p:nvPr/>
        </p:nvSpPr>
        <p:spPr>
          <a:xfrm>
            <a:off x="274320" y="3276410"/>
            <a:ext cx="6309360" cy="877824"/>
          </a:xfrm>
          <a:prstGeom prst="rect">
            <a:avLst/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5" name="Shape 13"/>
          <p:cNvSpPr/>
          <p:nvPr/>
        </p:nvSpPr>
        <p:spPr>
          <a:xfrm>
            <a:off x="274320" y="3276410"/>
            <a:ext cx="54864" cy="8778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6" name="Text 14"/>
          <p:cNvSpPr/>
          <p:nvPr/>
        </p:nvSpPr>
        <p:spPr>
          <a:xfrm>
            <a:off x="377190" y="3310700"/>
            <a:ext cx="4800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100"/>
          </a:p>
        </p:txBody>
      </p:sp>
      <p:sp>
        <p:nvSpPr>
          <p:cNvPr id="17" name="Text 15"/>
          <p:cNvSpPr/>
          <p:nvPr/>
        </p:nvSpPr>
        <p:spPr>
          <a:xfrm>
            <a:off x="925830" y="3331274"/>
            <a:ext cx="55549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Urbanisation Inflection Point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925830" y="3619310"/>
            <a:ext cx="55549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crossing the 50–60% urbanisation threshold show accelerating income growth. Countries currently approaching this threshold — particularly in Southeast Asia and East Africa — represent the highest near-term growth opportunity.</a:t>
            </a:r>
            <a:endParaRPr lang="en-US" sz="788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342900" y="780098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Would Do Next</a:t>
            </a:r>
            <a:endParaRPr lang="en-US" sz="2700"/>
          </a:p>
        </p:txBody>
      </p:sp>
      <p:sp>
        <p:nvSpPr>
          <p:cNvPr id="4" name="Shape 2"/>
          <p:cNvSpPr/>
          <p:nvPr/>
        </p:nvSpPr>
        <p:spPr>
          <a:xfrm>
            <a:off x="27432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34290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35661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600"/>
          </a:p>
        </p:txBody>
      </p:sp>
      <p:sp>
        <p:nvSpPr>
          <p:cNvPr id="7" name="Text 5"/>
          <p:cNvSpPr/>
          <p:nvPr/>
        </p:nvSpPr>
        <p:spPr>
          <a:xfrm>
            <a:off x="27432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⚡</a:t>
            </a:r>
            <a:endParaRPr lang="en-US" sz="1650"/>
          </a:p>
        </p:txBody>
      </p:sp>
      <p:sp>
        <p:nvSpPr>
          <p:cNvPr id="8" name="Text 6"/>
          <p:cNvSpPr/>
          <p:nvPr/>
        </p:nvSpPr>
        <p:spPr>
          <a:xfrm>
            <a:off x="34290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Incremental Data Loads</a:t>
            </a:r>
            <a:endParaRPr lang="en-US" sz="825"/>
          </a:p>
        </p:txBody>
      </p:sp>
      <p:sp>
        <p:nvSpPr>
          <p:cNvPr id="9" name="Text 7"/>
          <p:cNvSpPr/>
          <p:nvPr/>
        </p:nvSpPr>
        <p:spPr>
          <a:xfrm>
            <a:off x="34290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full refresh with watermark-based incremental loading using Delta Lake MERGE. Only process new or changed records each run.</a:t>
            </a:r>
            <a:endParaRPr lang="en-US" sz="675"/>
          </a:p>
        </p:txBody>
      </p:sp>
      <p:sp>
        <p:nvSpPr>
          <p:cNvPr id="10" name="Shape 8"/>
          <p:cNvSpPr/>
          <p:nvPr/>
        </p:nvSpPr>
        <p:spPr>
          <a:xfrm>
            <a:off x="240030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1" name="Shape 9"/>
          <p:cNvSpPr/>
          <p:nvPr/>
        </p:nvSpPr>
        <p:spPr>
          <a:xfrm>
            <a:off x="246888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2" name="Text 10"/>
          <p:cNvSpPr/>
          <p:nvPr/>
        </p:nvSpPr>
        <p:spPr>
          <a:xfrm>
            <a:off x="248259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600"/>
          </a:p>
        </p:txBody>
      </p:sp>
      <p:sp>
        <p:nvSpPr>
          <p:cNvPr id="13" name="Text 11"/>
          <p:cNvSpPr/>
          <p:nvPr/>
        </p:nvSpPr>
        <p:spPr>
          <a:xfrm>
            <a:off x="240030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🔄</a:t>
            </a:r>
            <a:endParaRPr lang="en-US" sz="1650"/>
          </a:p>
        </p:txBody>
      </p:sp>
      <p:sp>
        <p:nvSpPr>
          <p:cNvPr id="14" name="Text 12"/>
          <p:cNvSpPr/>
          <p:nvPr/>
        </p:nvSpPr>
        <p:spPr>
          <a:xfrm>
            <a:off x="246888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Orchestration</a:t>
            </a:r>
            <a:endParaRPr lang="en-US" sz="825"/>
          </a:p>
        </p:txBody>
      </p:sp>
      <p:sp>
        <p:nvSpPr>
          <p:cNvPr id="15" name="Text 13"/>
          <p:cNvSpPr/>
          <p:nvPr/>
        </p:nvSpPr>
        <p:spPr>
          <a:xfrm>
            <a:off x="246888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notebooks via Fabric Data Factory with dependencies — Bronze → Silver → Gold → DQ check. Pipeline stops and alerts on failure.</a:t>
            </a:r>
            <a:endParaRPr lang="en-US" sz="675"/>
          </a:p>
        </p:txBody>
      </p:sp>
      <p:sp>
        <p:nvSpPr>
          <p:cNvPr id="16" name="Shape 14"/>
          <p:cNvSpPr/>
          <p:nvPr/>
        </p:nvSpPr>
        <p:spPr>
          <a:xfrm>
            <a:off x="4526280" y="132873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7" name="Shape 15"/>
          <p:cNvSpPr/>
          <p:nvPr/>
        </p:nvSpPr>
        <p:spPr>
          <a:xfrm>
            <a:off x="4594860" y="139731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6"/>
          <p:cNvSpPr/>
          <p:nvPr/>
        </p:nvSpPr>
        <p:spPr>
          <a:xfrm>
            <a:off x="4608576" y="140417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600"/>
          </a:p>
        </p:txBody>
      </p:sp>
      <p:sp>
        <p:nvSpPr>
          <p:cNvPr id="19" name="Text 17"/>
          <p:cNvSpPr/>
          <p:nvPr/>
        </p:nvSpPr>
        <p:spPr>
          <a:xfrm>
            <a:off x="4526280" y="158934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🛡️</a:t>
            </a:r>
            <a:endParaRPr lang="en-US" sz="1650"/>
          </a:p>
        </p:txBody>
      </p:sp>
      <p:sp>
        <p:nvSpPr>
          <p:cNvPr id="20" name="Text 18"/>
          <p:cNvSpPr/>
          <p:nvPr/>
        </p:nvSpPr>
        <p:spPr>
          <a:xfrm>
            <a:off x="4594860" y="189109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Data Quality Contracts</a:t>
            </a:r>
            <a:endParaRPr lang="en-US" sz="825"/>
          </a:p>
        </p:txBody>
      </p:sp>
      <p:sp>
        <p:nvSpPr>
          <p:cNvPr id="21" name="Text 19"/>
          <p:cNvSpPr/>
          <p:nvPr/>
        </p:nvSpPr>
        <p:spPr>
          <a:xfrm>
            <a:off x="4594860" y="216541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informational DQ checks with hard stops using Great Expectations or dbt tests. Define expected row counts, value ranges and referential integrity.</a:t>
            </a:r>
            <a:endParaRPr lang="en-US" sz="675"/>
          </a:p>
        </p:txBody>
      </p:sp>
      <p:sp>
        <p:nvSpPr>
          <p:cNvPr id="22" name="Shape 20"/>
          <p:cNvSpPr/>
          <p:nvPr/>
        </p:nvSpPr>
        <p:spPr>
          <a:xfrm>
            <a:off x="27432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3" name="Shape 21"/>
          <p:cNvSpPr/>
          <p:nvPr/>
        </p:nvSpPr>
        <p:spPr>
          <a:xfrm>
            <a:off x="34290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4" name="Text 22"/>
          <p:cNvSpPr/>
          <p:nvPr/>
        </p:nvSpPr>
        <p:spPr>
          <a:xfrm>
            <a:off x="35661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600"/>
          </a:p>
        </p:txBody>
      </p:sp>
      <p:sp>
        <p:nvSpPr>
          <p:cNvPr id="25" name="Text 23"/>
          <p:cNvSpPr/>
          <p:nvPr/>
        </p:nvSpPr>
        <p:spPr>
          <a:xfrm>
            <a:off x="27432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🔀</a:t>
            </a:r>
            <a:endParaRPr lang="en-US" sz="1650"/>
          </a:p>
        </p:txBody>
      </p:sp>
      <p:sp>
        <p:nvSpPr>
          <p:cNvPr id="26" name="Text 24"/>
          <p:cNvSpPr/>
          <p:nvPr/>
        </p:nvSpPr>
        <p:spPr>
          <a:xfrm>
            <a:off x="34290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via GitHub Actions</a:t>
            </a:r>
            <a:endParaRPr lang="en-US" sz="825"/>
          </a:p>
        </p:txBody>
      </p:sp>
      <p:sp>
        <p:nvSpPr>
          <p:cNvPr id="27" name="Text 25"/>
          <p:cNvSpPr/>
          <p:nvPr/>
        </p:nvSpPr>
        <p:spPr>
          <a:xfrm>
            <a:off x="34290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testing and deployment of notebook changes through pull requests before reaching production.</a:t>
            </a:r>
            <a:endParaRPr lang="en-US" sz="675"/>
          </a:p>
        </p:txBody>
      </p:sp>
      <p:sp>
        <p:nvSpPr>
          <p:cNvPr id="28" name="Shape 26"/>
          <p:cNvSpPr/>
          <p:nvPr/>
        </p:nvSpPr>
        <p:spPr>
          <a:xfrm>
            <a:off x="240030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9" name="Shape 27"/>
          <p:cNvSpPr/>
          <p:nvPr/>
        </p:nvSpPr>
        <p:spPr>
          <a:xfrm>
            <a:off x="246888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Text 28"/>
          <p:cNvSpPr/>
          <p:nvPr/>
        </p:nvSpPr>
        <p:spPr>
          <a:xfrm>
            <a:off x="248259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600"/>
          </a:p>
        </p:txBody>
      </p:sp>
      <p:sp>
        <p:nvSpPr>
          <p:cNvPr id="31" name="Text 29"/>
          <p:cNvSpPr/>
          <p:nvPr/>
        </p:nvSpPr>
        <p:spPr>
          <a:xfrm>
            <a:off x="240030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📈</a:t>
            </a:r>
            <a:endParaRPr lang="en-US" sz="1650"/>
          </a:p>
        </p:txBody>
      </p:sp>
      <p:sp>
        <p:nvSpPr>
          <p:cNvPr id="32" name="Text 30"/>
          <p:cNvSpPr/>
          <p:nvPr/>
        </p:nvSpPr>
        <p:spPr>
          <a:xfrm>
            <a:off x="246888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Additional Data Sources</a:t>
            </a:r>
            <a:endParaRPr lang="en-US" sz="825"/>
          </a:p>
        </p:txBody>
      </p:sp>
      <p:sp>
        <p:nvSpPr>
          <p:cNvPr id="33" name="Text 31"/>
          <p:cNvSpPr/>
          <p:nvPr/>
        </p:nvSpPr>
        <p:spPr>
          <a:xfrm>
            <a:off x="246888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 GDP data for fuller income coverage. IMF financial inclusion data showing % of population with bank accounts.</a:t>
            </a:r>
            <a:endParaRPr lang="en-US" sz="675"/>
          </a:p>
        </p:txBody>
      </p:sp>
      <p:sp>
        <p:nvSpPr>
          <p:cNvPr id="34" name="Shape 32"/>
          <p:cNvSpPr/>
          <p:nvPr/>
        </p:nvSpPr>
        <p:spPr>
          <a:xfrm>
            <a:off x="4526280" y="2803208"/>
            <a:ext cx="19888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5" name="Shape 33"/>
          <p:cNvSpPr/>
          <p:nvPr/>
        </p:nvSpPr>
        <p:spPr>
          <a:xfrm>
            <a:off x="4594860" y="2871788"/>
            <a:ext cx="754380" cy="192024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6" name="Text 34"/>
          <p:cNvSpPr/>
          <p:nvPr/>
        </p:nvSpPr>
        <p:spPr>
          <a:xfrm>
            <a:off x="4608576" y="2878646"/>
            <a:ext cx="7269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600"/>
          </a:p>
        </p:txBody>
      </p:sp>
      <p:sp>
        <p:nvSpPr>
          <p:cNvPr id="37" name="Text 35"/>
          <p:cNvSpPr/>
          <p:nvPr/>
        </p:nvSpPr>
        <p:spPr>
          <a:xfrm>
            <a:off x="4526280" y="3063812"/>
            <a:ext cx="19888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>
                <a:solidFill>
                  <a:srgbClr val="000000"/>
                </a:solidFill>
              </a:rPr>
              <a:t>⚙️</a:t>
            </a:r>
            <a:endParaRPr lang="en-US" sz="1650"/>
          </a:p>
        </p:txBody>
      </p:sp>
      <p:sp>
        <p:nvSpPr>
          <p:cNvPr id="38" name="Text 36"/>
          <p:cNvSpPr/>
          <p:nvPr/>
        </p:nvSpPr>
        <p:spPr>
          <a:xfrm>
            <a:off x="4594860" y="3365564"/>
            <a:ext cx="18516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Configurable Opportunity Score</a:t>
            </a:r>
            <a:endParaRPr lang="en-US" sz="825"/>
          </a:p>
        </p:txBody>
      </p:sp>
      <p:sp>
        <p:nvSpPr>
          <p:cNvPr id="39" name="Text 37"/>
          <p:cNvSpPr/>
          <p:nvPr/>
        </p:nvSpPr>
        <p:spPr>
          <a:xfrm>
            <a:off x="4594860" y="3639884"/>
            <a:ext cx="18516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75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scoring weights to a config table so the investment team can run scenario analysis without touching code.</a:t>
            </a:r>
            <a:endParaRPr lang="en-US" sz="675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42900" y="3043238"/>
            <a:ext cx="2400300" cy="24003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/>
          <p:cNvSpPr/>
          <p:nvPr/>
        </p:nvSpPr>
        <p:spPr>
          <a:xfrm>
            <a:off x="5486400" y="94298"/>
            <a:ext cx="2057400" cy="205740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2"/>
          <p:cNvSpPr/>
          <p:nvPr/>
        </p:nvSpPr>
        <p:spPr>
          <a:xfrm>
            <a:off x="0" y="642938"/>
            <a:ext cx="6858000" cy="480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685800" y="126015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/>
          </a:p>
        </p:txBody>
      </p:sp>
      <p:sp>
        <p:nvSpPr>
          <p:cNvPr id="7" name="Shape 5"/>
          <p:cNvSpPr/>
          <p:nvPr/>
        </p:nvSpPr>
        <p:spPr>
          <a:xfrm>
            <a:off x="2400300" y="2288315"/>
            <a:ext cx="205740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8" name="Text 6"/>
          <p:cNvSpPr/>
          <p:nvPr/>
        </p:nvSpPr>
        <p:spPr>
          <a:xfrm>
            <a:off x="54864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235</a:t>
            </a:r>
            <a:endParaRPr lang="en-US" sz="2100"/>
          </a:p>
        </p:txBody>
      </p:sp>
      <p:sp>
        <p:nvSpPr>
          <p:cNvPr id="9" name="Text 7"/>
          <p:cNvSpPr/>
          <p:nvPr/>
        </p:nvSpPr>
        <p:spPr>
          <a:xfrm>
            <a:off x="54864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205740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23,735</a:t>
            </a:r>
            <a:endParaRPr lang="en-US" sz="2100"/>
          </a:p>
        </p:txBody>
      </p:sp>
      <p:sp>
        <p:nvSpPr>
          <p:cNvPr id="11" name="Text 9"/>
          <p:cNvSpPr/>
          <p:nvPr/>
        </p:nvSpPr>
        <p:spPr>
          <a:xfrm>
            <a:off x="205740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Processed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56616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2100"/>
          </a:p>
        </p:txBody>
      </p:sp>
      <p:sp>
        <p:nvSpPr>
          <p:cNvPr id="13" name="Text 11"/>
          <p:cNvSpPr/>
          <p:nvPr/>
        </p:nvSpPr>
        <p:spPr>
          <a:xfrm>
            <a:off x="356616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5074920" y="2528888"/>
            <a:ext cx="1371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100"/>
          </a:p>
        </p:txBody>
      </p:sp>
      <p:sp>
        <p:nvSpPr>
          <p:cNvPr id="15" name="Text 13"/>
          <p:cNvSpPr/>
          <p:nvPr/>
        </p:nvSpPr>
        <p:spPr>
          <a:xfrm>
            <a:off x="5074920" y="296094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Pages</a:t>
            </a:r>
            <a:endParaRPr lang="en-US" sz="750"/>
          </a:p>
        </p:txBody>
      </p:sp>
      <p:sp>
        <p:nvSpPr>
          <p:cNvPr id="16" name="Shape 14"/>
          <p:cNvSpPr/>
          <p:nvPr/>
        </p:nvSpPr>
        <p:spPr>
          <a:xfrm>
            <a:off x="1028700" y="3317558"/>
            <a:ext cx="4800600" cy="51435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1131570" y="3351848"/>
            <a:ext cx="17145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 Repository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1131570" y="3571304"/>
            <a:ext cx="45948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https://github.com/JHaywardNinetyOne/urbanisation-prospects-assessment</a:t>
            </a:r>
            <a:endParaRPr lang="en-US" sz="825"/>
          </a:p>
        </p:txBody>
      </p:sp>
      <p:sp>
        <p:nvSpPr>
          <p:cNvPr id="19" name="Shape 17"/>
          <p:cNvSpPr/>
          <p:nvPr/>
        </p:nvSpPr>
        <p:spPr>
          <a:xfrm>
            <a:off x="0" y="4277678"/>
            <a:ext cx="6858000" cy="222885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342900" y="4291394"/>
            <a:ext cx="6172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•  PowerBI  •  Delta Lake  •  PySpark  •  Medallion Architecture  •  GitHub</a:t>
            </a:r>
            <a:endParaRPr lang="en-US"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850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Georgia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Urbanisation Prospects - Data Engineering Assessment</dc:title>
  <dc:subject>PptxGenJS Presentation</dc:subject>
  <dc:creator>PptxGenJS</dc:creator>
  <cp:lastModifiedBy>Jonathan Hayward</cp:lastModifiedBy>
  <cp:revision>1</cp:revision>
  <dcterms:created xsi:type="dcterms:W3CDTF">2026-02-28T11:31:04Z</dcterms:created>
  <dcterms:modified xsi:type="dcterms:W3CDTF">2026-03-02T18:52:34Z</dcterms:modified>
</cp:coreProperties>
</file>