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6858000" cy="5143500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AEAB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771182-0255-46FD-A267-F79F9FC18F6F}" v="4" dt="2026-03-01T09:09:49.4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488" y="-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Hayward" userId="b50b5895-66ae-4161-9610-d0d8f25118a4" providerId="ADAL" clId="{72FF0399-27F1-49DB-9E36-447A45B81DB4}"/>
    <pc:docChg chg="undo custSel modSld">
      <pc:chgData name="Jonathan Hayward" userId="b50b5895-66ae-4161-9610-d0d8f25118a4" providerId="ADAL" clId="{72FF0399-27F1-49DB-9E36-447A45B81DB4}" dt="2026-03-01T09:09:49.479" v="17"/>
      <pc:docMkLst>
        <pc:docMk/>
      </pc:docMkLst>
      <pc:sldChg chg="modSp modNotes">
        <pc:chgData name="Jonathan Hayward" userId="b50b5895-66ae-4161-9610-d0d8f25118a4" providerId="ADAL" clId="{72FF0399-27F1-49DB-9E36-447A45B81DB4}" dt="2026-02-28T16:19:44.484" v="15" actId="6549"/>
        <pc:sldMkLst>
          <pc:docMk/>
          <pc:sldMk cId="0" sldId="256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8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41.579" v="14" actId="6549"/>
        <pc:sldMkLst>
          <pc:docMk/>
          <pc:sldMk cId="0" sldId="257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5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38.362" v="13" actId="6549"/>
        <pc:sldMkLst>
          <pc:docMk/>
          <pc:sldMk cId="0" sldId="258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2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2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9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31.064" v="11" actId="6549"/>
        <pc:sldMkLst>
          <pc:docMk/>
          <pc:sldMk cId="0" sldId="259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7" creationId="{00000000-0000-0000-0000-000000000000}"/>
          </ac:spMkLst>
        </pc:spChg>
        <pc:graphicFrameChg chg="mod">
          <ac:chgData name="Jonathan Hayward" userId="b50b5895-66ae-4161-9610-d0d8f25118a4" providerId="ADAL" clId="{72FF0399-27F1-49DB-9E36-447A45B81DB4}" dt="2026-02-28T16:17:51.210" v="2"/>
          <ac:graphicFrameMkLst>
            <pc:docMk/>
            <pc:sldMk cId="0" sldId="259"/>
            <ac:graphicFrameMk id="5" creationId="{00000000-0000-0000-0000-000000000000}"/>
          </ac:graphicFrameMkLst>
        </pc:graphicFrameChg>
      </pc:sldChg>
      <pc:sldChg chg="modSp mod modNotes">
        <pc:chgData name="Jonathan Hayward" userId="b50b5895-66ae-4161-9610-d0d8f25118a4" providerId="ADAL" clId="{72FF0399-27F1-49DB-9E36-447A45B81DB4}" dt="2026-03-01T09:09:12.078" v="16" actId="404"/>
        <pc:sldMkLst>
          <pc:docMk/>
          <pc:sldMk cId="0" sldId="260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3-01T09:09:12.078" v="16" actId="404"/>
          <ac:spMkLst>
            <pc:docMk/>
            <pc:sldMk cId="0" sldId="260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4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22.517" v="9" actId="6549"/>
        <pc:sldMkLst>
          <pc:docMk/>
          <pc:sldMk cId="0" sldId="261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1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1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6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17.964" v="8" actId="6549"/>
        <pc:sldMkLst>
          <pc:docMk/>
          <pc:sldMk cId="0" sldId="262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6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12.808" v="7" actId="6549"/>
        <pc:sldMkLst>
          <pc:docMk/>
          <pc:sldMk cId="0" sldId="263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1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2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9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3-01T09:09:49.479" v="17"/>
        <pc:sldMkLst>
          <pc:docMk/>
          <pc:sldMk cId="0" sldId="264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3-01T09:09:49.479" v="17"/>
          <ac:spMkLst>
            <pc:docMk/>
            <pc:sldMk cId="0" sldId="264"/>
            <ac:spMk id="1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9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35.268" v="12" actId="6549"/>
        <pc:sldMkLst>
          <pc:docMk/>
          <pc:sldMk cId="663972408" sldId="265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2" creationId="{5C605734-FA76-E444-D0BB-0A52F7844822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3" creationId="{DCDE7B3F-3142-7DBE-036A-95A50D72349B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5" creationId="{B043618C-CAAF-A616-C8B6-744944726FA2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17" creationId="{DBCBDBB6-B182-D688-96C6-E977C5C19A32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18" creationId="{D4FB5E47-B71E-2FE9-9B44-E8220F4D70F7}"/>
          </ac:spMkLst>
        </pc:spChg>
        <pc:picChg chg="mod">
          <ac:chgData name="Jonathan Hayward" userId="b50b5895-66ae-4161-9610-d0d8f25118a4" providerId="ADAL" clId="{72FF0399-27F1-49DB-9E36-447A45B81DB4}" dt="2026-02-28T16:17:51.210" v="2"/>
          <ac:picMkLst>
            <pc:docMk/>
            <pc:sldMk cId="663972408" sldId="265"/>
            <ac:picMk id="20" creationId="{41A99828-7B26-7F73-3034-E379CF27D6A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6201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58744-2179-A285-22CF-D68B1C55A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93A7F6-B78F-03AA-695D-BCEE2778B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5F365-1692-2381-F5F3-F4B2A5947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D9EB55-8A98-0227-A3CE-B372B7D5A9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245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841772"/>
            <a:ext cx="58293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2701528"/>
            <a:ext cx="51435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72413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4856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282305"/>
            <a:ext cx="5915025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3442099"/>
            <a:ext cx="5915025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48281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369219"/>
            <a:ext cx="291465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369219"/>
            <a:ext cx="291465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6639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73845"/>
            <a:ext cx="5915025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260872"/>
            <a:ext cx="2901255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1878806"/>
            <a:ext cx="2901255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260872"/>
            <a:ext cx="2915543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1878806"/>
            <a:ext cx="2915543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3756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621261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43068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42900"/>
            <a:ext cx="2211884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740570"/>
            <a:ext cx="3471863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543050"/>
            <a:ext cx="2211884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85707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42900"/>
            <a:ext cx="2211884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740570"/>
            <a:ext cx="3471863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543050"/>
            <a:ext cx="2211884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69785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30985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273844"/>
            <a:ext cx="1478756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73844"/>
            <a:ext cx="4350544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86494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015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273845"/>
            <a:ext cx="5915025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369219"/>
            <a:ext cx="5915025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4767264"/>
            <a:ext cx="1543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4767264"/>
            <a:ext cx="23145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4767264"/>
            <a:ext cx="1543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269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54864" cy="385762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Shape 1"/>
          <p:cNvSpPr/>
          <p:nvPr/>
        </p:nvSpPr>
        <p:spPr>
          <a:xfrm>
            <a:off x="5349240" y="94298"/>
            <a:ext cx="2400300" cy="24003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Shape 2"/>
          <p:cNvSpPr/>
          <p:nvPr/>
        </p:nvSpPr>
        <p:spPr>
          <a:xfrm>
            <a:off x="5692140" y="437198"/>
            <a:ext cx="1714500" cy="1714500"/>
          </a:xfrm>
          <a:prstGeom prst="ellipse">
            <a:avLst/>
          </a:prstGeom>
          <a:solidFill>
            <a:srgbClr val="14B8A6">
              <a:alpha val="25000"/>
            </a:srgbClr>
          </a:solidFill>
          <a:ln w="12700">
            <a:solidFill>
              <a:srgbClr val="14B8A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342900" y="1397318"/>
            <a:ext cx="54864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ASSESSMENT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342900" y="1705928"/>
            <a:ext cx="5829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Urbanisation Prospects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342900" y="2528888"/>
            <a:ext cx="4800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Market Opportunity Analysis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2988374"/>
            <a:ext cx="240030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34290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235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34290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Analysed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95453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1950–2050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95453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Range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56616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56616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17779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517779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Opportunity Markets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0" y="4277678"/>
            <a:ext cx="6858000" cy="222885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/>
          <p:cNvSpPr/>
          <p:nvPr/>
        </p:nvSpPr>
        <p:spPr>
          <a:xfrm>
            <a:off x="342900" y="4291394"/>
            <a:ext cx="6172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•  PowerBI  •  Delta Lake  •  Medallion Architecture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814388"/>
            <a:ext cx="6172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42900" y="1363028"/>
            <a:ext cx="6172200" cy="7543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480060" y="1397318"/>
            <a:ext cx="5897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global markets represent the best opportunity for product expansion?</a:t>
            </a:r>
            <a:r>
              <a:rPr lang="en-US" sz="21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42900" y="2254568"/>
            <a:ext cx="1988820" cy="18516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7" name="Text 5"/>
          <p:cNvSpPr/>
          <p:nvPr/>
        </p:nvSpPr>
        <p:spPr>
          <a:xfrm>
            <a:off x="342900" y="2323148"/>
            <a:ext cx="19888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000000"/>
                </a:solidFill>
              </a:rPr>
              <a:t>🌍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11480" y="273462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Scale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5770" y="3043238"/>
            <a:ext cx="17830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 countries across 6 continents with data from 1950 to 2050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2455164" y="2254568"/>
            <a:ext cx="1988820" cy="18516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2455164" y="2323148"/>
            <a:ext cx="19888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000000"/>
                </a:solidFill>
              </a:rPr>
              <a:t>📊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523744" y="273462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 Sources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58034" y="3043238"/>
            <a:ext cx="17830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datasets with different formats, naming conventions and coverage</a:t>
            </a:r>
            <a:endParaRPr lang="en-US" sz="825" dirty="0"/>
          </a:p>
        </p:txBody>
      </p:sp>
      <p:sp>
        <p:nvSpPr>
          <p:cNvPr id="14" name="Shape 12"/>
          <p:cNvSpPr/>
          <p:nvPr/>
        </p:nvSpPr>
        <p:spPr>
          <a:xfrm>
            <a:off x="4567428" y="2254568"/>
            <a:ext cx="1988820" cy="18516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5" name="Text 13"/>
          <p:cNvSpPr/>
          <p:nvPr/>
        </p:nvSpPr>
        <p:spPr>
          <a:xfrm>
            <a:off x="4567428" y="2323148"/>
            <a:ext cx="19888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000000"/>
                </a:solidFill>
              </a:rPr>
              <a:t>💡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636008" y="273462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Actionable Insight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70298" y="3043238"/>
            <a:ext cx="17830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and marketing teams need clear, ranked market recommendations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Architecture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42900" y="1205294"/>
            <a:ext cx="61722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Architecture — Bronze → Silver → Gold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057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205740" y="1568768"/>
            <a:ext cx="1165860" cy="30861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5"/>
          <p:cNvSpPr/>
          <p:nvPr/>
        </p:nvSpPr>
        <p:spPr>
          <a:xfrm>
            <a:off x="2057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2400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CSV Files</a:t>
            </a:r>
            <a:endParaRPr lang="en-US" sz="675" dirty="0"/>
          </a:p>
        </p:txBody>
      </p:sp>
      <p:sp>
        <p:nvSpPr>
          <p:cNvPr id="9" name="Text 7"/>
          <p:cNvSpPr/>
          <p:nvPr/>
        </p:nvSpPr>
        <p:spPr>
          <a:xfrm>
            <a:off x="2606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landing zone</a:t>
            </a:r>
            <a:endParaRPr lang="en-US" sz="750" dirty="0"/>
          </a:p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· WID · Continents · WHO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3853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16459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0D9488"/>
                </a:solidFill>
              </a:rPr>
              <a:t>▶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5773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B4530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3" name="Shape 11"/>
          <p:cNvSpPr/>
          <p:nvPr/>
        </p:nvSpPr>
        <p:spPr>
          <a:xfrm>
            <a:off x="1577340" y="1568768"/>
            <a:ext cx="1165860" cy="30861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4" name="Text 12"/>
          <p:cNvSpPr/>
          <p:nvPr/>
        </p:nvSpPr>
        <p:spPr>
          <a:xfrm>
            <a:off x="15773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16116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Delta Tables</a:t>
            </a:r>
            <a:endParaRPr lang="en-US" sz="675" dirty="0"/>
          </a:p>
        </p:txBody>
      </p:sp>
      <p:sp>
        <p:nvSpPr>
          <p:cNvPr id="16" name="Text 14"/>
          <p:cNvSpPr/>
          <p:nvPr/>
        </p:nvSpPr>
        <p:spPr>
          <a:xfrm>
            <a:off x="16322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copy + metadata</a:t>
            </a:r>
            <a:endParaRPr lang="en-US" sz="750" dirty="0"/>
          </a:p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preserved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569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/>
          <p:cNvSpPr/>
          <p:nvPr/>
        </p:nvSpPr>
        <p:spPr>
          <a:xfrm>
            <a:off x="30175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0D9488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489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0" name="Shape 18"/>
          <p:cNvSpPr/>
          <p:nvPr/>
        </p:nvSpPr>
        <p:spPr>
          <a:xfrm>
            <a:off x="2948940" y="1568768"/>
            <a:ext cx="1165860" cy="30861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29489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29832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&amp; Joined</a:t>
            </a:r>
            <a:endParaRPr lang="en-US" sz="675" dirty="0"/>
          </a:p>
        </p:txBody>
      </p:sp>
      <p:sp>
        <p:nvSpPr>
          <p:cNvPr id="23" name="Text 21"/>
          <p:cNvSpPr/>
          <p:nvPr/>
        </p:nvSpPr>
        <p:spPr>
          <a:xfrm>
            <a:off x="30038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Standardised, joined</a:t>
            </a:r>
            <a:endParaRPr lang="en-US" sz="750" dirty="0"/>
          </a:p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23,735 rows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1285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Text 23"/>
          <p:cNvSpPr/>
          <p:nvPr/>
        </p:nvSpPr>
        <p:spPr>
          <a:xfrm>
            <a:off x="43891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0D9488"/>
                </a:solidFill>
              </a:rPr>
              <a:t>▶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205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7" name="Shape 25"/>
          <p:cNvSpPr/>
          <p:nvPr/>
        </p:nvSpPr>
        <p:spPr>
          <a:xfrm>
            <a:off x="4320540" y="1568768"/>
            <a:ext cx="1165860" cy="30861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26"/>
          <p:cNvSpPr/>
          <p:nvPr/>
        </p:nvSpPr>
        <p:spPr>
          <a:xfrm>
            <a:off x="43205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43548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Ready</a:t>
            </a:r>
            <a:endParaRPr lang="en-US" sz="675" dirty="0"/>
          </a:p>
        </p:txBody>
      </p:sp>
      <p:sp>
        <p:nvSpPr>
          <p:cNvPr id="30" name="Text 28"/>
          <p:cNvSpPr/>
          <p:nvPr/>
        </p:nvSpPr>
        <p:spPr>
          <a:xfrm>
            <a:off x="43754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aggregated tables</a:t>
            </a:r>
            <a:endParaRPr lang="en-US" sz="750" dirty="0"/>
          </a:p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for PowerBI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5001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2" name="Text 30"/>
          <p:cNvSpPr/>
          <p:nvPr/>
        </p:nvSpPr>
        <p:spPr>
          <a:xfrm>
            <a:off x="57607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0D9488"/>
                </a:solidFill>
              </a:rPr>
              <a:t>▶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921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4" name="Shape 32"/>
          <p:cNvSpPr/>
          <p:nvPr/>
        </p:nvSpPr>
        <p:spPr>
          <a:xfrm>
            <a:off x="5692140" y="1568768"/>
            <a:ext cx="1165860" cy="30861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5" name="Text 33"/>
          <p:cNvSpPr/>
          <p:nvPr/>
        </p:nvSpPr>
        <p:spPr>
          <a:xfrm>
            <a:off x="56921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57264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675" dirty="0"/>
          </a:p>
        </p:txBody>
      </p:sp>
      <p:sp>
        <p:nvSpPr>
          <p:cNvPr id="37" name="Text 35"/>
          <p:cNvSpPr/>
          <p:nvPr/>
        </p:nvSpPr>
        <p:spPr>
          <a:xfrm>
            <a:off x="57470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dashboard</a:t>
            </a:r>
            <a:endParaRPr lang="en-US" sz="750" dirty="0"/>
          </a:p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visuals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05740" y="4003358"/>
            <a:ext cx="6446520" cy="30861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Text 37"/>
          <p:cNvSpPr/>
          <p:nvPr/>
        </p:nvSpPr>
        <p:spPr>
          <a:xfrm>
            <a:off x="274320" y="4023932"/>
            <a:ext cx="63093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Principles:  Separation of Concerns  •  Single Source of Truth  •  Idempotency  •  Transparency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0BBA91-2F0F-9C81-E78A-F5AF47739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605734-FA76-E444-D0BB-0A52F7844822}"/>
              </a:ext>
            </a:extLst>
          </p:cNvPr>
          <p:cNvSpPr/>
          <p:nvPr/>
        </p:nvSpPr>
        <p:spPr>
          <a:xfrm>
            <a:off x="0" y="642938"/>
            <a:ext cx="54864" cy="385762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CDE7B3F-3142-7DBE-036A-95A50D72349B}"/>
              </a:ext>
            </a:extLst>
          </p:cNvPr>
          <p:cNvSpPr/>
          <p:nvPr/>
        </p:nvSpPr>
        <p:spPr>
          <a:xfrm>
            <a:off x="5349240" y="94298"/>
            <a:ext cx="2400300" cy="24003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043618C-CAAF-A616-C8B6-744944726FA2}"/>
              </a:ext>
            </a:extLst>
          </p:cNvPr>
          <p:cNvSpPr/>
          <p:nvPr/>
        </p:nvSpPr>
        <p:spPr>
          <a:xfrm>
            <a:off x="342900" y="853952"/>
            <a:ext cx="54864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2BAEAB"/>
                </a:solidFill>
              </a:rPr>
              <a:t>Urbanisation</a:t>
            </a:r>
            <a:r>
              <a:rPr lang="en-US" b="1" dirty="0">
                <a:solidFill>
                  <a:srgbClr val="2BAEAB"/>
                </a:solidFill>
              </a:rPr>
              <a:t> Prospects - Data Pipeline Architecture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BCBDBB6-B182-D688-96C6-E977C5C19A32}"/>
              </a:ext>
            </a:extLst>
          </p:cNvPr>
          <p:cNvSpPr/>
          <p:nvPr/>
        </p:nvSpPr>
        <p:spPr>
          <a:xfrm>
            <a:off x="0" y="4277678"/>
            <a:ext cx="6858000" cy="222885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4FB5E47-B71E-2FE9-9B44-E8220F4D70F7}"/>
              </a:ext>
            </a:extLst>
          </p:cNvPr>
          <p:cNvSpPr/>
          <p:nvPr/>
        </p:nvSpPr>
        <p:spPr>
          <a:xfrm>
            <a:off x="342900" y="4291394"/>
            <a:ext cx="6172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•  PowerBI  •  Delta Lake  •  Medallion Architecture</a:t>
            </a:r>
            <a:endParaRPr lang="en-US" sz="7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1A99828-7B26-7F73-3034-E379CF27D6A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179363" y="1403049"/>
            <a:ext cx="6457071" cy="273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972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Sources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" y="1328738"/>
          <a:ext cx="6172200" cy="19202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8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Columns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World Urbanisation Prospects 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27,573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Year, Urban Pop, Rural Pop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Contains regional aggregates — filtered out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Inequality Database — Pretax Income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Year, Mean Income, Gini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coverage — 64% of countries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Countries &amp; Continents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Continent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mismatches with other datasets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OWID Country to WHO Regions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WHO Region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country name format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342900" y="3386138"/>
            <a:ext cx="6172200" cy="85725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" name="Text 3"/>
          <p:cNvSpPr/>
          <p:nvPr/>
        </p:nvSpPr>
        <p:spPr>
          <a:xfrm>
            <a:off x="480060" y="3441002"/>
            <a:ext cx="58978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 Key Engineering Challenge</a:t>
            </a:r>
            <a:endParaRPr lang="en-US" sz="975" dirty="0"/>
          </a:p>
        </p:txBody>
      </p:sp>
      <p:sp>
        <p:nvSpPr>
          <p:cNvPr id="7" name="Text 4"/>
          <p:cNvSpPr/>
          <p:nvPr/>
        </p:nvSpPr>
        <p:spPr>
          <a:xfrm>
            <a:off x="480060" y="3715322"/>
            <a:ext cx="589788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datasets refer to countries differently — full UN names, common names, ISO codes. I solved this by building a Country Dimension Table that standardises 233 countries into a single source of truth.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Data Engineering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42900" y="1205294"/>
            <a:ext cx="61722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Country Name Problem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" y="1534478"/>
          <a:ext cx="3771900" cy="150876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'South Africa' appears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Urbanisation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 Income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Countries &amp; Continents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OWID WHO Regions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  /  ZAF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4320540" y="1534478"/>
            <a:ext cx="219456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7" name="Text 4"/>
          <p:cNvSpPr/>
          <p:nvPr/>
        </p:nvSpPr>
        <p:spPr>
          <a:xfrm>
            <a:off x="4389120" y="158934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 Solution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389120" y="1911668"/>
            <a:ext cx="205740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Dimension Table</a:t>
            </a:r>
            <a:endParaRPr lang="en-US" sz="825" dirty="0"/>
          </a:p>
          <a:p>
            <a:r>
              <a:rPr lang="en-US" sz="82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25" dirty="0"/>
          </a:p>
          <a:p>
            <a:r>
              <a:rPr lang="en-US" sz="82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233 countries standardised</a:t>
            </a:r>
            <a:endParaRPr lang="en-US" sz="825" dirty="0"/>
          </a:p>
          <a:p>
            <a:r>
              <a:rPr lang="en-US" sz="82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source of truth</a:t>
            </a:r>
            <a:endParaRPr lang="en-US" sz="825" dirty="0"/>
          </a:p>
          <a:p>
            <a:r>
              <a:rPr lang="en-US" sz="82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Continent + WHO region</a:t>
            </a:r>
            <a:endParaRPr lang="en-US" sz="825" dirty="0"/>
          </a:p>
          <a:p>
            <a:r>
              <a:rPr lang="en-US" sz="82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fixes applied</a:t>
            </a:r>
            <a:endParaRPr lang="en-US" sz="825" dirty="0"/>
          </a:p>
        </p:txBody>
      </p:sp>
      <p:sp>
        <p:nvSpPr>
          <p:cNvPr id="9" name="Shape 6"/>
          <p:cNvSpPr/>
          <p:nvPr/>
        </p:nvSpPr>
        <p:spPr>
          <a:xfrm>
            <a:off x="342900" y="3146108"/>
            <a:ext cx="6172200" cy="106299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0" name="Text 7"/>
          <p:cNvSpPr/>
          <p:nvPr/>
        </p:nvSpPr>
        <p:spPr>
          <a:xfrm>
            <a:off x="480060" y="3200972"/>
            <a:ext cx="27432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 Fixes Applied: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80060" y="3454718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Swaziland → Eswatini</a:t>
            </a:r>
            <a:endParaRPr lang="en-US" sz="825" dirty="0"/>
          </a:p>
        </p:txBody>
      </p:sp>
      <p:sp>
        <p:nvSpPr>
          <p:cNvPr id="12" name="Text 9"/>
          <p:cNvSpPr/>
          <p:nvPr/>
        </p:nvSpPr>
        <p:spPr>
          <a:xfrm>
            <a:off x="3566160" y="3454718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Macedonia → North Macedonia</a:t>
            </a:r>
            <a:endParaRPr lang="en-US" sz="825" dirty="0"/>
          </a:p>
        </p:txBody>
      </p:sp>
      <p:sp>
        <p:nvSpPr>
          <p:cNvPr id="13" name="Text 10"/>
          <p:cNvSpPr/>
          <p:nvPr/>
        </p:nvSpPr>
        <p:spPr>
          <a:xfrm>
            <a:off x="480060" y="3742754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Czech Republic → Czechia</a:t>
            </a:r>
            <a:endParaRPr lang="en-US" sz="825" dirty="0"/>
          </a:p>
        </p:txBody>
      </p:sp>
      <p:sp>
        <p:nvSpPr>
          <p:cNvPr id="14" name="Text 11"/>
          <p:cNvSpPr/>
          <p:nvPr/>
        </p:nvSpPr>
        <p:spPr>
          <a:xfrm>
            <a:off x="3566160" y="3742754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38 regional aggregates removed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Results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4320" y="1328738"/>
            <a:ext cx="19888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Shape 3"/>
          <p:cNvSpPr/>
          <p:nvPr/>
        </p:nvSpPr>
        <p:spPr>
          <a:xfrm>
            <a:off x="274320" y="1328738"/>
            <a:ext cx="1988820" cy="3429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308610" y="1342454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LAYER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8610" y="1726502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377190" y="211740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bronze_urbanisation  27,573 rows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77190" y="247402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bronze_wid_income  7,078 rows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77190" y="283064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bronze_continents  285 rows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77190" y="31872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bronze_who_regions  194 rows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400300" y="1328738"/>
            <a:ext cx="19888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3" name="Shape 11"/>
          <p:cNvSpPr/>
          <p:nvPr/>
        </p:nvSpPr>
        <p:spPr>
          <a:xfrm>
            <a:off x="2400300" y="1328738"/>
            <a:ext cx="1988820" cy="3429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4" name="Text 12"/>
          <p:cNvSpPr/>
          <p:nvPr/>
        </p:nvSpPr>
        <p:spPr>
          <a:xfrm>
            <a:off x="2434590" y="1342454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34590" y="1726502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Table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2503170" y="211740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silver_urbanisation  23,735 rows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503170" y="247402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233 countries mapped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503170" y="283064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1950 – 2050 coverage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03170" y="31872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+ Projected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26280" y="1328738"/>
            <a:ext cx="19888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1" name="Shape 19"/>
          <p:cNvSpPr/>
          <p:nvPr/>
        </p:nvSpPr>
        <p:spPr>
          <a:xfrm>
            <a:off x="4526280" y="1328738"/>
            <a:ext cx="1988820" cy="3429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2" name="Text 20"/>
          <p:cNvSpPr/>
          <p:nvPr/>
        </p:nvSpPr>
        <p:spPr>
          <a:xfrm>
            <a:off x="4560570" y="1342454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60570" y="1726502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4629150" y="211740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gold_continent_trends  606 rows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629150" y="247402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gold_growth_rates  15,824 rows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629150" y="283064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gold_income_vs_urbanisation  4,158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629150" y="31872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gold_market_opportunity  4,158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74320" y="4037648"/>
            <a:ext cx="6309360" cy="2880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9" name="Text 27"/>
          <p:cNvSpPr/>
          <p:nvPr/>
        </p:nvSpPr>
        <p:spPr>
          <a:xfrm>
            <a:off x="377190" y="4058222"/>
            <a:ext cx="6172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Data Quality Check:  PASS  —  All validations passing  •  235 countries  •  Zero duplicates  •  64% income coverage documented</a:t>
            </a:r>
            <a:endParaRPr lang="en-US" sz="8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Business Insights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4320" y="1328738"/>
            <a:ext cx="6309360" cy="877824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Shape 3"/>
          <p:cNvSpPr/>
          <p:nvPr/>
        </p:nvSpPr>
        <p:spPr>
          <a:xfrm>
            <a:off x="274320" y="1328738"/>
            <a:ext cx="54864" cy="8778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377190" y="1363028"/>
            <a:ext cx="4800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25830" y="1383602"/>
            <a:ext cx="55549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High Opportunity Markets Identified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25830" y="1671638"/>
            <a:ext cx="55549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composite scoring model — combining urbanisation rate, mean income and population size — identified 32 countries that score in the top tier across all three dimensions. These are the markets the sales team should prioritise for product expansion.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274320" y="2302574"/>
            <a:ext cx="6309360" cy="877824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0" name="Shape 8"/>
          <p:cNvSpPr/>
          <p:nvPr/>
        </p:nvSpPr>
        <p:spPr>
          <a:xfrm>
            <a:off x="274320" y="2302574"/>
            <a:ext cx="54864" cy="8778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377190" y="2336864"/>
            <a:ext cx="4800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25830" y="2357438"/>
            <a:ext cx="55549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 is Urbanising Faster Than Any Other Region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25830" y="2645474"/>
            <a:ext cx="55549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Africa is projected to double its urban population by 2050. Combined with a young demographic and rising incomes in key markets, this represents the most significant long-term growth opportunity — though high income inequality in many markets remains a risk factor.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274320" y="3276410"/>
            <a:ext cx="6309360" cy="877824"/>
          </a:xfrm>
          <a:prstGeom prst="rect">
            <a:avLst/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5" name="Shape 13"/>
          <p:cNvSpPr/>
          <p:nvPr/>
        </p:nvSpPr>
        <p:spPr>
          <a:xfrm>
            <a:off x="274320" y="3276410"/>
            <a:ext cx="54864" cy="87782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6" name="Text 14"/>
          <p:cNvSpPr/>
          <p:nvPr/>
        </p:nvSpPr>
        <p:spPr>
          <a:xfrm>
            <a:off x="377190" y="3310700"/>
            <a:ext cx="4800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25830" y="3331274"/>
            <a:ext cx="55549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Urbanisation Inflection Point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25830" y="3619310"/>
            <a:ext cx="55549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crossing the 50–60% urbanisation threshold show accelerating income growth. Countries currently approaching this threshold — particularly in Southeast Asia and East Africa — represent the highest near-term growth opportunity.</a:t>
            </a:r>
            <a:endParaRPr lang="en-US" sz="78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Would Do Next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4320" y="132873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Shape 3"/>
          <p:cNvSpPr/>
          <p:nvPr/>
        </p:nvSpPr>
        <p:spPr>
          <a:xfrm>
            <a:off x="342900" y="139731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356616" y="140417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274320" y="158934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dirty="0">
                <a:solidFill>
                  <a:srgbClr val="000000"/>
                </a:solidFill>
              </a:rPr>
              <a:t>⚡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342900" y="189109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Incremental Data Loads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342900" y="216541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full refresh with watermark-based incremental loading using Delta Lake MERGE. Only process new or changed records each run.</a:t>
            </a:r>
            <a:endParaRPr lang="en-US" sz="675" dirty="0"/>
          </a:p>
        </p:txBody>
      </p:sp>
      <p:sp>
        <p:nvSpPr>
          <p:cNvPr id="10" name="Shape 8"/>
          <p:cNvSpPr/>
          <p:nvPr/>
        </p:nvSpPr>
        <p:spPr>
          <a:xfrm>
            <a:off x="2400300" y="132873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1" name="Shape 9"/>
          <p:cNvSpPr/>
          <p:nvPr/>
        </p:nvSpPr>
        <p:spPr>
          <a:xfrm>
            <a:off x="2468880" y="139731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2" name="Text 10"/>
          <p:cNvSpPr/>
          <p:nvPr/>
        </p:nvSpPr>
        <p:spPr>
          <a:xfrm>
            <a:off x="2482596" y="140417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400300" y="158934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dirty="0">
                <a:solidFill>
                  <a:srgbClr val="000000"/>
                </a:solidFill>
              </a:rPr>
              <a:t>🔄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468880" y="189109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Orchestration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2468880" y="216541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notebooks via Fabric Data Factory with dependencies — Bronze → Silver → Gold → DQ check. Pipeline stops and alerts on failure.</a:t>
            </a:r>
            <a:endParaRPr lang="en-US" sz="675" dirty="0"/>
          </a:p>
        </p:txBody>
      </p:sp>
      <p:sp>
        <p:nvSpPr>
          <p:cNvPr id="16" name="Shape 14"/>
          <p:cNvSpPr/>
          <p:nvPr/>
        </p:nvSpPr>
        <p:spPr>
          <a:xfrm>
            <a:off x="4526280" y="132873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7" name="Shape 15"/>
          <p:cNvSpPr/>
          <p:nvPr/>
        </p:nvSpPr>
        <p:spPr>
          <a:xfrm>
            <a:off x="4594860" y="139731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/>
          <p:cNvSpPr/>
          <p:nvPr/>
        </p:nvSpPr>
        <p:spPr>
          <a:xfrm>
            <a:off x="4608576" y="140417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4526280" y="158934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dirty="0">
                <a:solidFill>
                  <a:srgbClr val="000000"/>
                </a:solidFill>
              </a:rPr>
              <a:t>🛡️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594860" y="189109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Data Quality Contracts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4594860" y="216541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informational DQ checks with hard stops using Great Expectations or dbt tests. Define expected row counts, value ranges and referential integrity.</a:t>
            </a:r>
            <a:endParaRPr lang="en-US" sz="675" dirty="0"/>
          </a:p>
        </p:txBody>
      </p:sp>
      <p:sp>
        <p:nvSpPr>
          <p:cNvPr id="22" name="Shape 20"/>
          <p:cNvSpPr/>
          <p:nvPr/>
        </p:nvSpPr>
        <p:spPr>
          <a:xfrm>
            <a:off x="274320" y="280320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3" name="Shape 21"/>
          <p:cNvSpPr/>
          <p:nvPr/>
        </p:nvSpPr>
        <p:spPr>
          <a:xfrm>
            <a:off x="342900" y="287178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4" name="Text 22"/>
          <p:cNvSpPr/>
          <p:nvPr/>
        </p:nvSpPr>
        <p:spPr>
          <a:xfrm>
            <a:off x="356616" y="287864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74320" y="306381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dirty="0">
                <a:solidFill>
                  <a:srgbClr val="000000"/>
                </a:solidFill>
              </a:rPr>
              <a:t>🔀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342900" y="336556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via GitHub Actions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342900" y="363988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testing and deployment of notebook changes through pull requests before reaching production.</a:t>
            </a:r>
            <a:endParaRPr lang="en-US" sz="675" dirty="0"/>
          </a:p>
        </p:txBody>
      </p:sp>
      <p:sp>
        <p:nvSpPr>
          <p:cNvPr id="28" name="Shape 26"/>
          <p:cNvSpPr/>
          <p:nvPr/>
        </p:nvSpPr>
        <p:spPr>
          <a:xfrm>
            <a:off x="2400300" y="280320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9" name="Shape 27"/>
          <p:cNvSpPr/>
          <p:nvPr/>
        </p:nvSpPr>
        <p:spPr>
          <a:xfrm>
            <a:off x="2468880" y="287178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0" name="Text 28"/>
          <p:cNvSpPr/>
          <p:nvPr/>
        </p:nvSpPr>
        <p:spPr>
          <a:xfrm>
            <a:off x="2482596" y="287864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2400300" y="306381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dirty="0">
                <a:solidFill>
                  <a:srgbClr val="000000"/>
                </a:solidFill>
              </a:rPr>
              <a:t>📈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2468880" y="336556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Additional Data Sources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2468880" y="363988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Bank GDP data for fuller income coverage. IMF financial inclusion data showing % of population with bank accounts.</a:t>
            </a:r>
            <a:endParaRPr lang="en-US" sz="675" dirty="0"/>
          </a:p>
        </p:txBody>
      </p:sp>
      <p:sp>
        <p:nvSpPr>
          <p:cNvPr id="34" name="Shape 32"/>
          <p:cNvSpPr/>
          <p:nvPr/>
        </p:nvSpPr>
        <p:spPr>
          <a:xfrm>
            <a:off x="4526280" y="280320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5" name="Shape 33"/>
          <p:cNvSpPr/>
          <p:nvPr/>
        </p:nvSpPr>
        <p:spPr>
          <a:xfrm>
            <a:off x="4594860" y="287178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6" name="Text 34"/>
          <p:cNvSpPr/>
          <p:nvPr/>
        </p:nvSpPr>
        <p:spPr>
          <a:xfrm>
            <a:off x="4608576" y="287864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526280" y="306381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dirty="0">
                <a:solidFill>
                  <a:srgbClr val="000000"/>
                </a:solidFill>
              </a:rPr>
              <a:t>⚙️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594860" y="336556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Configurable Opportunity Score</a:t>
            </a:r>
            <a:endParaRPr lang="en-US" sz="825" dirty="0"/>
          </a:p>
        </p:txBody>
      </p:sp>
      <p:sp>
        <p:nvSpPr>
          <p:cNvPr id="39" name="Text 37"/>
          <p:cNvSpPr/>
          <p:nvPr/>
        </p:nvSpPr>
        <p:spPr>
          <a:xfrm>
            <a:off x="4594860" y="363988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scoring weights to a config table so the investment team can run scenario analysis without touching code.</a:t>
            </a:r>
            <a:endParaRPr lang="en-US" sz="6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42900" y="3043238"/>
            <a:ext cx="2400300" cy="24003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Shape 1"/>
          <p:cNvSpPr/>
          <p:nvPr/>
        </p:nvSpPr>
        <p:spPr>
          <a:xfrm>
            <a:off x="5486400" y="94298"/>
            <a:ext cx="2057400" cy="2057400"/>
          </a:xfrm>
          <a:prstGeom prst="ellipse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Shape 2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685800" y="1260158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2400300" y="2288315"/>
            <a:ext cx="205740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8" name="Text 6"/>
          <p:cNvSpPr/>
          <p:nvPr/>
        </p:nvSpPr>
        <p:spPr>
          <a:xfrm>
            <a:off x="54864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235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4864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05740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23,735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05740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Processed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6616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56616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07492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07492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Pages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028700" y="3317558"/>
            <a:ext cx="4800600" cy="51435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1131570" y="3351848"/>
            <a:ext cx="17145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 Repository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1131570" y="3571304"/>
            <a:ext cx="45948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https://github.com/JHaywardNinetyOne/urbanisation-prospects-assessment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0" y="4277678"/>
            <a:ext cx="6858000" cy="222885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342900" y="4291394"/>
            <a:ext cx="6172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•  PowerBI  •  Delta Lake  •  PySpark  •  Medallion Architecture  •  GitHub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</TotalTime>
  <Words>850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Georgia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Urbanisation Prospects - Data Engineering Assessment</dc:title>
  <dc:subject>PptxGenJS Presentation</dc:subject>
  <dc:creator>PptxGenJS</dc:creator>
  <cp:lastModifiedBy>Jonathan Hayward</cp:lastModifiedBy>
  <cp:revision>2</cp:revision>
  <dcterms:created xsi:type="dcterms:W3CDTF">2026-02-28T11:31:04Z</dcterms:created>
  <dcterms:modified xsi:type="dcterms:W3CDTF">2026-03-01T09:09:58Z</dcterms:modified>
</cp:coreProperties>
</file>