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65" r:id="rId5"/>
    <p:sldId id="259" r:id="rId6"/>
    <p:sldId id="260" r:id="rId7"/>
    <p:sldId id="261" r:id="rId8"/>
    <p:sldId id="262" r:id="rId9"/>
    <p:sldId id="263" r:id="rId10"/>
    <p:sldId id="264"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AEAB"/>
    <a:srgbClr val="33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5" d="100"/>
          <a:sy n="105" d="100"/>
        </p:scale>
        <p:origin x="82" y="1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62012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 TITLE
Open with energy. Do not read the slide. Say:
"Good morning / afternoon. Thank you for the opportunity to present my solution to the Urbanisation Prospects assessment.
The business question I set out to answer was simple: which global markets represent the best opportunity for product expansion — and what does the data actually tell us?
To answer that I built an end-to-end data pipeline and analytics solution using Microsoft Fabric and PowerBI that analyses 235 countries across 100 years of urbanisation and income data.
Let me walk you through what I built, how it works, and most importantly what it tells us."
Then advance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2: BUSINESS PROBLEM
"The investment team needed to answer one core question — which global markets should they expand into?
To answer that we needed to combine urbanisation trends, population data and income statistics across 235 countries spanning 100 years.
The challenge was that the data came from four completely different sources — the UN, the World Inequality Database, and two regional reference datasets — each with different formats and naming conventions.
My job was to take that raw messy data and turn it into clean, reliable, actionable insight that the sales and marketing teams can actually use.
Let me show you the solution I designed to do that."
Advance to architecture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3: ARCHITECTURE
"I used a Medallion Architecture which is an industry standard pattern for data pipelines. Let me walk you through each layer.
The SOURCE layer is where our four raw CSV files live — they are stored in the Fabric Lakehouse Files section and are never modified. This is important for auditability — you can always trace back to the original data.
The BRONZE layer is an exact copy of each source file saved as Delta tables. No transformations happen here — we just add two metadata columns: ingestion timestamp and source name. Delta format gives us ACID transactions, schema enforcement and time travel.
The SILVER layer is where the real engineering happens. We clean column names, cast data types, filter out regional aggregates that aren't countries, calculate derived metrics like urbanisation percentage, and join all four datasets together using left joins to preserve data completeness.
The GOLD layer contains four purpose-built aggregated tables, each designed to answer a specific business question. Pre-aggregating here means PowerBI reports load instantly.
Finally PowerBI connects to the Gold tables via a semantic model and serves three interactive report pages.
Four principles guided every design decision — separation of concerns, single source of truth, idempotency, and transparency.
Let me now show you the actual data and how it flows through this pipeline."
LIVE DEMO: Switch to Fabric. Show the Lakehouse tables list. Open notebook 00_country_mapping briefly and explain the country dimension. Then show silver_urbanisation table. Keep this to 4-5 minutes maximum.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58744-2179-A285-22CF-D68B1C55A6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93A7F6-B78F-03AA-695D-BCEE2778B5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B5F365-1692-2381-F5F3-F4B2A5947E44}"/>
              </a:ext>
            </a:extLst>
          </p:cNvPr>
          <p:cNvSpPr>
            <a:spLocks noGrp="1"/>
          </p:cNvSpPr>
          <p:nvPr>
            <p:ph type="body" idx="1"/>
          </p:nvPr>
        </p:nvSpPr>
        <p:spPr/>
        <p:txBody>
          <a:bodyPr/>
          <a:lstStyle/>
          <a:p>
            <a:r>
              <a:rPr lang="en-US" dirty="0"/>
              <a:t>SPEAKER NOTES – SLIDE 1: TITLE
Open with energy. Do not read the slide. Say:
"Good morning / afternoon. Thank you for the opportunity to present my solution to the Urbanisation Prospects assessment.
The business question I set out to answer was simple: which global markets represent the best opportunity for product expansion — and what does the data actually tell us?
To answer that I built an end-to-end data pipeline and analytics solution using Microsoft Fabric and PowerBI that analyses 235 countries across 100 years of urbanisation and income data.
Let me walk you through what I built, how it works, and most importantly what it tells us."
Then advance to the next slide.</a:t>
            </a:r>
          </a:p>
        </p:txBody>
      </p:sp>
      <p:sp>
        <p:nvSpPr>
          <p:cNvPr id="4" name="Slide Number Placeholder 3">
            <a:extLst>
              <a:ext uri="{FF2B5EF4-FFF2-40B4-BE49-F238E27FC236}">
                <a16:creationId xmlns:a16="http://schemas.microsoft.com/office/drawing/2014/main" id="{50D9EB55-8A98-0227-A3CE-B372B7D5A983}"/>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3692450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4: DATA SOURCES
"Let me walk you through the four datasets.
The UN World Urbanisation Prospects dataset is our primary source — 27,573 rows covering every country from 1950 to 2050. The data beyond 2018 is projected using the UN's medium variant model. One immediate challenge was that the dataset includes not just countries but also regional aggregates like 'World', 'Africa', 'Less developed regions' — I had to filter those out, leaving us with 235 true countries.
The World Inequality Database provided income data — mean income, median income, Gini coefficient and income share by percentile. The challenge here is coverage — WID has data for about 150 countries and not for every year, so we have income data for 64% of country-year combinations. I was deliberate about keeping nulls as nulls rather than filling with estimates.
The Countries and Continents and WHO Regions datasets are small reference tables that add geographic context.
The biggest engineering challenge across all four datasets was country naming — and I want to spend a moment on that because it's a real-world problem that trips up a lot of pipelines."
Point to the key insight box and explain the Country Dimension Table.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5: COUNTRY NAME CHALLENGE
"This slide shows one of the most important real-world data engineering problems I encountered.
Each of the four datasets refers to the same country differently. South Africa appears as 'South Africa' in some datasets, 'ZA' in the WID data, and 'ZAF' in the WHO regions data.
Without solving this, the joins between datasets would fail silently — records simply wouldn't match and we'd lose data without knowing why.
My solution was to build a Country Dimension Table — a single reference table that maps 233 countries to standardised names, continents and WHO regions. Every dataset joins to this table rather than directly to each other.
I also applied manual fixes for countries that have been renamed — Swaziland is now Eswatini, Macedonia is now North Macedonia — and filtered out 38 regional aggregates that were mixed in with real countries in the UN dataset.
This is a core data engineering principle — single source of truth. Country mapping logic lives in one place only. If we add a fifth dataset tomorrow, it just needs to join to this table."
Advance to Pipeline Results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6: PIPELINE RESULTS
"Here is a summary of what flows through each layer of the pipeline.
Bronze receives the raw data exactly as-is — 27,573 urbanisation rows, 7,078 income rows, and two small reference tables. Nothing is changed, just stored as Delta tables with metadata.
Silver combines everything into a single 23,735 row table after filtering out regional aggregates and joining to the country dimension. This covers 235 countries from 1950 to 2050.
Gold produces four purpose-built tables. The continent trends table has only 606 rows — pre-aggregated by continent and year so PowerBI queries are instant. The growth rates table has 15,824 rows of year-on-year calculations for historical data. The income tables have 4,158 rows each — limited to country-year combinations where income data exists.
The data quality notebook runs checks across all seven tables. All checks pass. I was transparent about the 64% income coverage rather than hiding it — honesty about data limitations is more valuable than false precision.
Let me now show you what all of this produces in PowerBI."
LIVE DEMO: Switch to PowerBI. Start on Page 1. Spend about 8 minutes walking through all three pages. Use the slicers to filter live.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7: KEY INSIGHTS
"Let me highlight the three most important insights the data produced.
First — 32 high opportunity markets. Our scoring model is a composite of three dimensions: urbanisation rate, mean income and population size, each ranked as a percentile within their year. Countries scoring above 75 on this composite scale are classified as High Opportunity. The model identified 32 such markets — giving the sales team a concrete, ranked, actionable shortlist rather than asking them to interpret 235 countries themselves.
Second — Africa's urbanisation trajectory. Africa is urbanising faster than any other region. By 2050 it will have more urban dwellers than it has total population today. This is a long-term story — income levels in many African markets are not yet at the threshold for complex financial products — but the trend is clear and the time to start building presence is now, not in 20 years.
Third — the inflection point insight. When we plot urbanisation rate against income across time we see a consistent pattern: once a country crosses roughly 50-60% urbanisation, income growth accelerates. Countries approaching this threshold right now are in the sweet spot — they have enough urban population to support financial products and their incomes are about to grow significantly.
These three insights directly answer the business question we started with."
Advance to What's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8: WHAT I WOULD DO NEXT
"Given the time constraints of this assessment I made deliberate scope decisions. Let me be transparent about what I would add to make this production ready.
Incremental loading is the most important missing piece. The current pipeline does a full refresh every run which works fine for these dataset sizes but would be wasteful and slow for larger volumes.
Orchestration would make the pipeline self-managing. Currently the notebooks need to be run manually in order. With Data Factory scheduling, the pipeline would run automatically on a schedule and stop with an alert if anything fails.
Formal data quality contracts would replace my current informational DQ checks with hard gates. If row counts drop by more than 10% or null rates exceed defined thresholds the pipeline fails and nobody gets bad data downstream.
CI/CD would ensure code changes are tested before reaching production. Any change to a notebook would go through a pull request on GitHub with automated tests before deployment.
Two additional data sources would significantly enrich the analysis — World Bank GDP data for fuller income coverage across the 36% of countries currently missing income data, and IMF financial inclusion statistics which would directly answer 'what percentage of each market's population is currently banked'.
Finally making the opportunity score configurable would let the investment team run their own scenario analysis — what does the top 10 look like if we weight income at 60% instead of 40%? Currently that requires a code change, but it could easily be a table in the Lakehouse."
Advance to closing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9: CLOSING
"To summarise what I built:
An end-to-end data pipeline in Microsoft Fabric using Medallion Architecture — Bronze, Silver, Gold — that processes 235 countries across 100 years of data and produces four Gold tables that feed directly into a three-page interactive PowerBI dashboard.
The solution identified 32 high opportunity markets, highlighted Africa's urbanisation trajectory as the most significant long-term growth story, and surfaced the urbanisation inflection point as a key signal for near-term market timing.
The code is all available on GitHub — the link is on screen — including all five notebooks, the PowerBI report file and the architecture diagram.
I am happy to answer any questions, go deeper on any technical component, or demonstrate any part of the solution live."
IMPORTANT TIPS FOR Q&amp;A:
- If asked something you don't know: "That's a great question. I haven't implemented that specifically but my approach would be..."
- If asked to show something in the demo: have Fabric and PowerBI open in browser tabs ready to go
- If challenged on a design decision: explain the tradeoff you considered, not just the choice you made
- Stay calm — you built this, you know it better than anyone in the room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0D9488"/>
          </a:solidFill>
          <a:ln w="12700">
            <a:solidFill>
              <a:srgbClr val="0D9488"/>
            </a:solidFill>
            <a:prstDash val="solid"/>
          </a:ln>
        </p:spPr>
        <p:txBody>
          <a:bodyPr/>
          <a:lstStyle/>
          <a:p>
            <a:endParaRPr lang="en-US"/>
          </a:p>
        </p:txBody>
      </p:sp>
      <p:sp>
        <p:nvSpPr>
          <p:cNvPr id="3" name="Shape 1"/>
          <p:cNvSpPr/>
          <p:nvPr/>
        </p:nvSpPr>
        <p:spPr>
          <a:xfrm>
            <a:off x="7132320" y="-731520"/>
            <a:ext cx="3200400" cy="3200400"/>
          </a:xfrm>
          <a:prstGeom prst="ellipse">
            <a:avLst/>
          </a:prstGeom>
          <a:solidFill>
            <a:srgbClr val="0D9488">
              <a:alpha val="15000"/>
            </a:srgbClr>
          </a:solidFill>
          <a:ln w="12700">
            <a:solidFill>
              <a:srgbClr val="0D9488">
                <a:alpha val="15000"/>
              </a:srgbClr>
            </a:solidFill>
            <a:prstDash val="solid"/>
          </a:ln>
        </p:spPr>
        <p:txBody>
          <a:bodyPr/>
          <a:lstStyle/>
          <a:p>
            <a:endParaRPr lang="en-US"/>
          </a:p>
        </p:txBody>
      </p:sp>
      <p:sp>
        <p:nvSpPr>
          <p:cNvPr id="4" name="Shape 2"/>
          <p:cNvSpPr/>
          <p:nvPr/>
        </p:nvSpPr>
        <p:spPr>
          <a:xfrm>
            <a:off x="7589520" y="-274320"/>
            <a:ext cx="2286000" cy="2286000"/>
          </a:xfrm>
          <a:prstGeom prst="ellipse">
            <a:avLst/>
          </a:prstGeom>
          <a:solidFill>
            <a:srgbClr val="14B8A6">
              <a:alpha val="25000"/>
            </a:srgbClr>
          </a:solidFill>
          <a:ln w="12700">
            <a:solidFill>
              <a:srgbClr val="14B8A6">
                <a:alpha val="25000"/>
              </a:srgbClr>
            </a:solidFill>
            <a:prstDash val="solid"/>
          </a:ln>
        </p:spPr>
        <p:txBody>
          <a:bodyPr/>
          <a:lstStyle/>
          <a:p>
            <a:endParaRPr lang="en-US"/>
          </a:p>
        </p:txBody>
      </p:sp>
      <p:sp>
        <p:nvSpPr>
          <p:cNvPr id="5" name="Text 3"/>
          <p:cNvSpPr/>
          <p:nvPr/>
        </p:nvSpPr>
        <p:spPr>
          <a:xfrm>
            <a:off x="457200" y="1005840"/>
            <a:ext cx="7315200" cy="320040"/>
          </a:xfrm>
          <a:prstGeom prst="rect">
            <a:avLst/>
          </a:prstGeom>
          <a:noFill/>
          <a:ln/>
        </p:spPr>
        <p:txBody>
          <a:bodyPr wrap="square" lIns="0" tIns="0" rIns="0" bIns="0" rtlCol="0" anchor="ctr"/>
          <a:lstStyle/>
          <a:p>
            <a:pPr marL="0" indent="0">
              <a:buNone/>
            </a:pPr>
            <a:r>
              <a:rPr lang="en-US" sz="1100" b="1" kern="0" spc="400" dirty="0">
                <a:solidFill>
                  <a:srgbClr val="0D9488"/>
                </a:solidFill>
                <a:latin typeface="Calibri" pitchFamily="34" charset="0"/>
                <a:ea typeface="Calibri" pitchFamily="34" charset="-122"/>
                <a:cs typeface="Calibri" pitchFamily="34" charset="-120"/>
              </a:rPr>
              <a:t>DATA ENGINEERING ASSESSMENT</a:t>
            </a:r>
            <a:endParaRPr lang="en-US" sz="1100" dirty="0"/>
          </a:p>
        </p:txBody>
      </p:sp>
      <p:sp>
        <p:nvSpPr>
          <p:cNvPr id="6" name="Text 4"/>
          <p:cNvSpPr/>
          <p:nvPr/>
        </p:nvSpPr>
        <p:spPr>
          <a:xfrm>
            <a:off x="457200" y="1417320"/>
            <a:ext cx="7772400" cy="1097280"/>
          </a:xfrm>
          <a:prstGeom prst="rect">
            <a:avLst/>
          </a:prstGeom>
          <a:noFill/>
          <a:ln/>
        </p:spPr>
        <p:txBody>
          <a:bodyPr wrap="square" lIns="0" tIns="0" rIns="0" bIns="0" rtlCol="0" anchor="ctr"/>
          <a:lstStyle/>
          <a:p>
            <a:pPr marL="0" indent="0">
              <a:buNone/>
            </a:pPr>
            <a:r>
              <a:rPr lang="en-US" sz="5200" b="1" dirty="0">
                <a:solidFill>
                  <a:srgbClr val="FFFFFF"/>
                </a:solidFill>
                <a:latin typeface="Georgia" pitchFamily="34" charset="0"/>
                <a:ea typeface="Georgia" pitchFamily="34" charset="-122"/>
                <a:cs typeface="Georgia" pitchFamily="34" charset="-120"/>
              </a:rPr>
              <a:t>Urbanisation Prospects</a:t>
            </a:r>
            <a:endParaRPr lang="en-US" sz="5200" dirty="0"/>
          </a:p>
        </p:txBody>
      </p:sp>
      <p:sp>
        <p:nvSpPr>
          <p:cNvPr id="7" name="Text 5"/>
          <p:cNvSpPr/>
          <p:nvPr/>
        </p:nvSpPr>
        <p:spPr>
          <a:xfrm>
            <a:off x="457200" y="2514600"/>
            <a:ext cx="6400800" cy="502920"/>
          </a:xfrm>
          <a:prstGeom prst="rect">
            <a:avLst/>
          </a:prstGeom>
          <a:noFill/>
          <a:ln/>
        </p:spPr>
        <p:txBody>
          <a:bodyPr wrap="square" lIns="0" tIns="0" rIns="0" bIns="0" rtlCol="0" anchor="ctr"/>
          <a:lstStyle/>
          <a:p>
            <a:pPr marL="0" indent="0">
              <a:buNone/>
            </a:pPr>
            <a:r>
              <a:rPr lang="en-US" sz="2200" dirty="0">
                <a:solidFill>
                  <a:srgbClr val="94A3B8"/>
                </a:solidFill>
                <a:latin typeface="Calibri" pitchFamily="34" charset="0"/>
                <a:ea typeface="Calibri" pitchFamily="34" charset="-122"/>
                <a:cs typeface="Calibri" pitchFamily="34" charset="-120"/>
              </a:rPr>
              <a:t>Global Market Opportunity Analysis</a:t>
            </a:r>
            <a:endParaRPr lang="en-US" sz="2200" dirty="0"/>
          </a:p>
        </p:txBody>
      </p:sp>
      <p:sp>
        <p:nvSpPr>
          <p:cNvPr id="8" name="Shape 6"/>
          <p:cNvSpPr/>
          <p:nvPr/>
        </p:nvSpPr>
        <p:spPr>
          <a:xfrm>
            <a:off x="457200" y="3127248"/>
            <a:ext cx="3200400" cy="36576"/>
          </a:xfrm>
          <a:prstGeom prst="rect">
            <a:avLst/>
          </a:prstGeom>
          <a:solidFill>
            <a:srgbClr val="0D9488"/>
          </a:solidFill>
          <a:ln w="12700">
            <a:solidFill>
              <a:srgbClr val="0D9488"/>
            </a:solidFill>
            <a:prstDash val="solid"/>
          </a:ln>
        </p:spPr>
        <p:txBody>
          <a:bodyPr/>
          <a:lstStyle/>
          <a:p>
            <a:endParaRPr lang="en-US"/>
          </a:p>
        </p:txBody>
      </p:sp>
      <p:sp>
        <p:nvSpPr>
          <p:cNvPr id="9" name="Text 7"/>
          <p:cNvSpPr/>
          <p:nvPr/>
        </p:nvSpPr>
        <p:spPr>
          <a:xfrm>
            <a:off x="457200" y="3291840"/>
            <a:ext cx="2011680" cy="594360"/>
          </a:xfrm>
          <a:prstGeom prst="rect">
            <a:avLst/>
          </a:prstGeom>
          <a:noFill/>
          <a:ln/>
        </p:spPr>
        <p:txBody>
          <a:bodyPr wrap="square" lIns="0" tIns="0" rIns="0" bIns="0" rtlCol="0" anchor="ctr"/>
          <a:lstStyle/>
          <a:p>
            <a:pPr marL="0" indent="0">
              <a:buNone/>
            </a:pPr>
            <a:r>
              <a:rPr lang="en-US" sz="2600" b="1" dirty="0">
                <a:solidFill>
                  <a:srgbClr val="F59E0B"/>
                </a:solidFill>
                <a:latin typeface="Georgia" pitchFamily="34" charset="0"/>
                <a:ea typeface="Georgia" pitchFamily="34" charset="-122"/>
                <a:cs typeface="Georgia" pitchFamily="34" charset="-120"/>
              </a:rPr>
              <a:t>235</a:t>
            </a:r>
            <a:endParaRPr lang="en-US" sz="2600" dirty="0"/>
          </a:p>
        </p:txBody>
      </p:sp>
      <p:sp>
        <p:nvSpPr>
          <p:cNvPr id="10" name="Text 8"/>
          <p:cNvSpPr/>
          <p:nvPr/>
        </p:nvSpPr>
        <p:spPr>
          <a:xfrm>
            <a:off x="457200" y="3858768"/>
            <a:ext cx="201168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Countries Analysed</a:t>
            </a:r>
            <a:endParaRPr lang="en-US" sz="1000" dirty="0"/>
          </a:p>
        </p:txBody>
      </p:sp>
      <p:sp>
        <p:nvSpPr>
          <p:cNvPr id="11" name="Text 9"/>
          <p:cNvSpPr/>
          <p:nvPr/>
        </p:nvSpPr>
        <p:spPr>
          <a:xfrm>
            <a:off x="2606040" y="3291840"/>
            <a:ext cx="2011680" cy="594360"/>
          </a:xfrm>
          <a:prstGeom prst="rect">
            <a:avLst/>
          </a:prstGeom>
          <a:noFill/>
          <a:ln/>
        </p:spPr>
        <p:txBody>
          <a:bodyPr wrap="square" lIns="0" tIns="0" rIns="0" bIns="0" rtlCol="0" anchor="ctr"/>
          <a:lstStyle/>
          <a:p>
            <a:pPr marL="0" indent="0">
              <a:buNone/>
            </a:pPr>
            <a:r>
              <a:rPr lang="en-US" sz="2600" b="1" dirty="0">
                <a:solidFill>
                  <a:srgbClr val="F59E0B"/>
                </a:solidFill>
                <a:latin typeface="Georgia" pitchFamily="34" charset="0"/>
                <a:ea typeface="Georgia" pitchFamily="34" charset="-122"/>
                <a:cs typeface="Georgia" pitchFamily="34" charset="-120"/>
              </a:rPr>
              <a:t>1950–2050</a:t>
            </a:r>
            <a:endParaRPr lang="en-US" sz="2600" dirty="0"/>
          </a:p>
        </p:txBody>
      </p:sp>
      <p:sp>
        <p:nvSpPr>
          <p:cNvPr id="12" name="Text 10"/>
          <p:cNvSpPr/>
          <p:nvPr/>
        </p:nvSpPr>
        <p:spPr>
          <a:xfrm>
            <a:off x="2606040" y="3858768"/>
            <a:ext cx="201168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Data Range</a:t>
            </a:r>
            <a:endParaRPr lang="en-US" sz="1000" dirty="0"/>
          </a:p>
        </p:txBody>
      </p:sp>
      <p:sp>
        <p:nvSpPr>
          <p:cNvPr id="13" name="Text 11"/>
          <p:cNvSpPr/>
          <p:nvPr/>
        </p:nvSpPr>
        <p:spPr>
          <a:xfrm>
            <a:off x="4754880" y="3291840"/>
            <a:ext cx="2011680" cy="594360"/>
          </a:xfrm>
          <a:prstGeom prst="rect">
            <a:avLst/>
          </a:prstGeom>
          <a:noFill/>
          <a:ln/>
        </p:spPr>
        <p:txBody>
          <a:bodyPr wrap="square" lIns="0" tIns="0" rIns="0" bIns="0" rtlCol="0" anchor="ctr"/>
          <a:lstStyle/>
          <a:p>
            <a:pPr marL="0" indent="0">
              <a:buNone/>
            </a:pPr>
            <a:r>
              <a:rPr lang="en-US" sz="2600" b="1" dirty="0">
                <a:solidFill>
                  <a:srgbClr val="F59E0B"/>
                </a:solidFill>
                <a:latin typeface="Georgia" pitchFamily="34" charset="0"/>
                <a:ea typeface="Georgia" pitchFamily="34" charset="-122"/>
                <a:cs typeface="Georgia" pitchFamily="34" charset="-120"/>
              </a:rPr>
              <a:t>4</a:t>
            </a:r>
            <a:endParaRPr lang="en-US" sz="2600" dirty="0"/>
          </a:p>
        </p:txBody>
      </p:sp>
      <p:sp>
        <p:nvSpPr>
          <p:cNvPr id="14" name="Text 12"/>
          <p:cNvSpPr/>
          <p:nvPr/>
        </p:nvSpPr>
        <p:spPr>
          <a:xfrm>
            <a:off x="4754880" y="3858768"/>
            <a:ext cx="201168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Data Sources</a:t>
            </a:r>
            <a:endParaRPr lang="en-US" sz="1000" dirty="0"/>
          </a:p>
        </p:txBody>
      </p:sp>
      <p:sp>
        <p:nvSpPr>
          <p:cNvPr id="15" name="Text 13"/>
          <p:cNvSpPr/>
          <p:nvPr/>
        </p:nvSpPr>
        <p:spPr>
          <a:xfrm>
            <a:off x="6903720" y="3291840"/>
            <a:ext cx="2011680" cy="594360"/>
          </a:xfrm>
          <a:prstGeom prst="rect">
            <a:avLst/>
          </a:prstGeom>
          <a:noFill/>
          <a:ln/>
        </p:spPr>
        <p:txBody>
          <a:bodyPr wrap="square" lIns="0" tIns="0" rIns="0" bIns="0" rtlCol="0" anchor="ctr"/>
          <a:lstStyle/>
          <a:p>
            <a:pPr marL="0" indent="0">
              <a:buNone/>
            </a:pPr>
            <a:r>
              <a:rPr lang="en-US" sz="2600" b="1" dirty="0">
                <a:solidFill>
                  <a:srgbClr val="F59E0B"/>
                </a:solidFill>
                <a:latin typeface="Georgia" pitchFamily="34" charset="0"/>
                <a:ea typeface="Georgia" pitchFamily="34" charset="-122"/>
                <a:cs typeface="Georgia" pitchFamily="34" charset="-120"/>
              </a:rPr>
              <a:t>32</a:t>
            </a:r>
            <a:endParaRPr lang="en-US" sz="2600" dirty="0"/>
          </a:p>
        </p:txBody>
      </p:sp>
      <p:sp>
        <p:nvSpPr>
          <p:cNvPr id="16" name="Text 14"/>
          <p:cNvSpPr/>
          <p:nvPr/>
        </p:nvSpPr>
        <p:spPr>
          <a:xfrm>
            <a:off x="6903720" y="3858768"/>
            <a:ext cx="201168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High Opportunity Markets</a:t>
            </a:r>
            <a:endParaRPr lang="en-US" sz="1000" dirty="0"/>
          </a:p>
        </p:txBody>
      </p:sp>
      <p:sp>
        <p:nvSpPr>
          <p:cNvPr id="17" name="Shape 15"/>
          <p:cNvSpPr/>
          <p:nvPr/>
        </p:nvSpPr>
        <p:spPr>
          <a:xfrm>
            <a:off x="0" y="4846320"/>
            <a:ext cx="9144000" cy="297180"/>
          </a:xfrm>
          <a:prstGeom prst="rect">
            <a:avLst/>
          </a:prstGeom>
          <a:solidFill>
            <a:srgbClr val="1E293B"/>
          </a:solidFill>
          <a:ln w="12700">
            <a:solidFill>
              <a:srgbClr val="1E293B"/>
            </a:solidFill>
            <a:prstDash val="solid"/>
          </a:ln>
        </p:spPr>
        <p:txBody>
          <a:bodyPr/>
          <a:lstStyle/>
          <a:p>
            <a:endParaRPr lang="en-US"/>
          </a:p>
        </p:txBody>
      </p:sp>
      <p:sp>
        <p:nvSpPr>
          <p:cNvPr id="18" name="Text 16"/>
          <p:cNvSpPr/>
          <p:nvPr/>
        </p:nvSpPr>
        <p:spPr>
          <a:xfrm>
            <a:off x="457200" y="4864608"/>
            <a:ext cx="8229600" cy="256032"/>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Microsoft Fabric  •  PowerBI  •  Delta Lake  •  Medallion Architecture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228600"/>
            <a:ext cx="8229600" cy="594360"/>
          </a:xfrm>
          <a:prstGeom prst="rect">
            <a:avLst/>
          </a:prstGeom>
          <a:noFill/>
          <a:ln/>
        </p:spPr>
        <p:txBody>
          <a:bodyPr wrap="square" lIns="0" tIns="0" rIns="0" bIns="0" rtlCol="0" anchor="ctr"/>
          <a:lstStyle/>
          <a:p>
            <a:pPr marL="0" indent="0">
              <a:buNone/>
            </a:pPr>
            <a:r>
              <a:rPr lang="en-US" sz="3600" b="1" dirty="0">
                <a:solidFill>
                  <a:srgbClr val="0D1B2A"/>
                </a:solidFill>
                <a:latin typeface="Georgia" pitchFamily="34" charset="0"/>
                <a:ea typeface="Georgia" pitchFamily="34" charset="-122"/>
                <a:cs typeface="Georgia" pitchFamily="34" charset="-120"/>
              </a:rPr>
              <a:t>The Business Problem</a:t>
            </a:r>
            <a:endParaRPr lang="en-US" sz="3600" dirty="0"/>
          </a:p>
        </p:txBody>
      </p:sp>
      <p:sp>
        <p:nvSpPr>
          <p:cNvPr id="4" name="Shape 2"/>
          <p:cNvSpPr/>
          <p:nvPr/>
        </p:nvSpPr>
        <p:spPr>
          <a:xfrm>
            <a:off x="457200" y="960120"/>
            <a:ext cx="8229600" cy="1005840"/>
          </a:xfrm>
          <a:prstGeom prst="rect">
            <a:avLst/>
          </a:prstGeom>
          <a:solidFill>
            <a:srgbClr val="0D1B2A"/>
          </a:solidFill>
          <a:ln w="12700">
            <a:solidFill>
              <a:srgbClr val="0D1B2A"/>
            </a:solidFill>
            <a:prstDash val="solid"/>
          </a:ln>
          <a:effectLst>
            <a:outerShdw blurRad="101600" dist="38100" dir="8100000" algn="bl" rotWithShape="0">
              <a:srgbClr val="000000">
                <a:alpha val="18000"/>
              </a:srgbClr>
            </a:outerShdw>
          </a:effectLst>
        </p:spPr>
        <p:txBody>
          <a:bodyPr/>
          <a:lstStyle/>
          <a:p>
            <a:endParaRPr lang="en-US"/>
          </a:p>
        </p:txBody>
      </p:sp>
      <p:sp>
        <p:nvSpPr>
          <p:cNvPr id="5" name="Text 3"/>
          <p:cNvSpPr/>
          <p:nvPr/>
        </p:nvSpPr>
        <p:spPr>
          <a:xfrm>
            <a:off x="640080" y="1005840"/>
            <a:ext cx="7863840" cy="914400"/>
          </a:xfrm>
          <a:prstGeom prst="rect">
            <a:avLst/>
          </a:prstGeom>
          <a:noFill/>
          <a:ln/>
        </p:spPr>
        <p:txBody>
          <a:bodyPr wrap="square" rtlCol="0" anchor="ctr"/>
          <a:lstStyle/>
          <a:p>
            <a:pPr marL="0" indent="0" algn="ctr">
              <a:buNone/>
            </a:pPr>
            <a:r>
              <a:rPr lang="en-US" sz="2800" b="1" dirty="0">
                <a:solidFill>
                  <a:srgbClr val="0D9488"/>
                </a:solidFill>
                <a:latin typeface="Georgia" pitchFamily="34" charset="0"/>
                <a:ea typeface="Georgia" pitchFamily="34" charset="-122"/>
                <a:cs typeface="Georgia" pitchFamily="34" charset="-120"/>
              </a:rPr>
              <a:t>"</a:t>
            </a:r>
            <a:r>
              <a:rPr lang="en-US" sz="2000" dirty="0">
                <a:solidFill>
                  <a:srgbClr val="FFFFFF"/>
                </a:solidFill>
                <a:latin typeface="Georgia" pitchFamily="34" charset="0"/>
                <a:ea typeface="Georgia" pitchFamily="34" charset="-122"/>
                <a:cs typeface="Georgia" pitchFamily="34" charset="-120"/>
              </a:rPr>
              <a:t>Which global markets represent the best opportunity for product expansion?</a:t>
            </a:r>
            <a:r>
              <a:rPr lang="en-US" sz="2800" b="1" dirty="0">
                <a:solidFill>
                  <a:srgbClr val="0D9488"/>
                </a:solidFill>
                <a:latin typeface="Georgia" pitchFamily="34" charset="0"/>
                <a:ea typeface="Georgia" pitchFamily="34" charset="-122"/>
                <a:cs typeface="Georgia" pitchFamily="34" charset="-120"/>
              </a:rPr>
              <a:t>"</a:t>
            </a:r>
            <a:endParaRPr lang="en-US" sz="2800" dirty="0"/>
          </a:p>
        </p:txBody>
      </p:sp>
      <p:sp>
        <p:nvSpPr>
          <p:cNvPr id="6" name="Shape 4"/>
          <p:cNvSpPr/>
          <p:nvPr/>
        </p:nvSpPr>
        <p:spPr>
          <a:xfrm>
            <a:off x="457200" y="2148840"/>
            <a:ext cx="2651760" cy="246888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7" name="Text 5"/>
          <p:cNvSpPr/>
          <p:nvPr/>
        </p:nvSpPr>
        <p:spPr>
          <a:xfrm>
            <a:off x="457200" y="2240280"/>
            <a:ext cx="2651760" cy="50292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8" name="Text 6"/>
          <p:cNvSpPr/>
          <p:nvPr/>
        </p:nvSpPr>
        <p:spPr>
          <a:xfrm>
            <a:off x="548640" y="2788920"/>
            <a:ext cx="2468880" cy="365760"/>
          </a:xfrm>
          <a:prstGeom prst="rect">
            <a:avLst/>
          </a:prstGeom>
          <a:noFill/>
          <a:ln/>
        </p:spPr>
        <p:txBody>
          <a:bodyPr wrap="square" lIns="0" tIns="0" rIns="0" bIns="0" rtlCol="0" anchor="ctr"/>
          <a:lstStyle/>
          <a:p>
            <a:pPr marL="0" indent="0" algn="ctr">
              <a:buNone/>
            </a:pPr>
            <a:r>
              <a:rPr lang="en-US" sz="1400" b="1" dirty="0">
                <a:solidFill>
                  <a:srgbClr val="0D1B2A"/>
                </a:solidFill>
                <a:latin typeface="Georgia" pitchFamily="34" charset="0"/>
                <a:ea typeface="Georgia" pitchFamily="34" charset="-122"/>
                <a:cs typeface="Georgia" pitchFamily="34" charset="-120"/>
              </a:rPr>
              <a:t>Global Scale</a:t>
            </a:r>
            <a:endParaRPr lang="en-US" sz="1400" dirty="0"/>
          </a:p>
        </p:txBody>
      </p:sp>
      <p:sp>
        <p:nvSpPr>
          <p:cNvPr id="9" name="Text 7"/>
          <p:cNvSpPr/>
          <p:nvPr/>
        </p:nvSpPr>
        <p:spPr>
          <a:xfrm>
            <a:off x="594360" y="3200400"/>
            <a:ext cx="2377440" cy="1188720"/>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235 countries across 6 continents with data from 1950 to 2050</a:t>
            </a:r>
            <a:endParaRPr lang="en-US" sz="1100" dirty="0"/>
          </a:p>
        </p:txBody>
      </p:sp>
      <p:sp>
        <p:nvSpPr>
          <p:cNvPr id="10" name="Shape 8"/>
          <p:cNvSpPr/>
          <p:nvPr/>
        </p:nvSpPr>
        <p:spPr>
          <a:xfrm>
            <a:off x="3273552" y="2148840"/>
            <a:ext cx="2651760" cy="246888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1" name="Text 9"/>
          <p:cNvSpPr/>
          <p:nvPr/>
        </p:nvSpPr>
        <p:spPr>
          <a:xfrm>
            <a:off x="3273552" y="2240280"/>
            <a:ext cx="2651760" cy="50292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2" name="Text 10"/>
          <p:cNvSpPr/>
          <p:nvPr/>
        </p:nvSpPr>
        <p:spPr>
          <a:xfrm>
            <a:off x="3364992" y="2788920"/>
            <a:ext cx="2468880" cy="365760"/>
          </a:xfrm>
          <a:prstGeom prst="rect">
            <a:avLst/>
          </a:prstGeom>
          <a:noFill/>
          <a:ln/>
        </p:spPr>
        <p:txBody>
          <a:bodyPr wrap="square" lIns="0" tIns="0" rIns="0" bIns="0" rtlCol="0" anchor="ctr"/>
          <a:lstStyle/>
          <a:p>
            <a:pPr marL="0" indent="0" algn="ctr">
              <a:buNone/>
            </a:pPr>
            <a:r>
              <a:rPr lang="en-US" sz="1400" b="1" dirty="0">
                <a:solidFill>
                  <a:srgbClr val="0D1B2A"/>
                </a:solidFill>
                <a:latin typeface="Georgia" pitchFamily="34" charset="0"/>
                <a:ea typeface="Georgia" pitchFamily="34" charset="-122"/>
                <a:cs typeface="Georgia" pitchFamily="34" charset="-120"/>
              </a:rPr>
              <a:t>Multiple Sources</a:t>
            </a:r>
            <a:endParaRPr lang="en-US" sz="1400" dirty="0"/>
          </a:p>
        </p:txBody>
      </p:sp>
      <p:sp>
        <p:nvSpPr>
          <p:cNvPr id="13" name="Text 11"/>
          <p:cNvSpPr/>
          <p:nvPr/>
        </p:nvSpPr>
        <p:spPr>
          <a:xfrm>
            <a:off x="3410712" y="3200400"/>
            <a:ext cx="2377440" cy="1188720"/>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4 datasets with different formats, naming conventions and coverage</a:t>
            </a:r>
            <a:endParaRPr lang="en-US" sz="1100" dirty="0"/>
          </a:p>
        </p:txBody>
      </p:sp>
      <p:sp>
        <p:nvSpPr>
          <p:cNvPr id="14" name="Shape 12"/>
          <p:cNvSpPr/>
          <p:nvPr/>
        </p:nvSpPr>
        <p:spPr>
          <a:xfrm>
            <a:off x="6089904" y="2148840"/>
            <a:ext cx="2651760" cy="246888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5" name="Text 13"/>
          <p:cNvSpPr/>
          <p:nvPr/>
        </p:nvSpPr>
        <p:spPr>
          <a:xfrm>
            <a:off x="6089904" y="2240280"/>
            <a:ext cx="2651760" cy="502920"/>
          </a:xfrm>
          <a:prstGeom prst="rect">
            <a:avLst/>
          </a:prstGeom>
          <a:noFill/>
          <a:ln/>
        </p:spPr>
        <p:txBody>
          <a:bodyPr wrap="square" lIns="0" tIns="0" rIns="0" bIns="0" rtlCol="0" anchor="ctr"/>
          <a:lstStyle/>
          <a:p>
            <a:pPr marL="0" indent="0" algn="ctr">
              <a:buNone/>
            </a:pPr>
            <a:r>
              <a:rPr lang="en-US" sz="2800" dirty="0">
                <a:solidFill>
                  <a:srgbClr val="000000"/>
                </a:solidFill>
              </a:rPr>
              <a:t>💡</a:t>
            </a:r>
            <a:endParaRPr lang="en-US" sz="2800" dirty="0"/>
          </a:p>
        </p:txBody>
      </p:sp>
      <p:sp>
        <p:nvSpPr>
          <p:cNvPr id="16" name="Text 14"/>
          <p:cNvSpPr/>
          <p:nvPr/>
        </p:nvSpPr>
        <p:spPr>
          <a:xfrm>
            <a:off x="6181344" y="2788920"/>
            <a:ext cx="2468880" cy="365760"/>
          </a:xfrm>
          <a:prstGeom prst="rect">
            <a:avLst/>
          </a:prstGeom>
          <a:noFill/>
          <a:ln/>
        </p:spPr>
        <p:txBody>
          <a:bodyPr wrap="square" lIns="0" tIns="0" rIns="0" bIns="0" rtlCol="0" anchor="ctr"/>
          <a:lstStyle/>
          <a:p>
            <a:pPr marL="0" indent="0" algn="ctr">
              <a:buNone/>
            </a:pPr>
            <a:r>
              <a:rPr lang="en-US" sz="1400" b="1" dirty="0">
                <a:solidFill>
                  <a:srgbClr val="0D1B2A"/>
                </a:solidFill>
                <a:latin typeface="Georgia" pitchFamily="34" charset="0"/>
                <a:ea typeface="Georgia" pitchFamily="34" charset="-122"/>
                <a:cs typeface="Georgia" pitchFamily="34" charset="-120"/>
              </a:rPr>
              <a:t>Actionable Insight</a:t>
            </a:r>
            <a:endParaRPr lang="en-US" sz="1400" dirty="0"/>
          </a:p>
        </p:txBody>
      </p:sp>
      <p:sp>
        <p:nvSpPr>
          <p:cNvPr id="17" name="Text 15"/>
          <p:cNvSpPr/>
          <p:nvPr/>
        </p:nvSpPr>
        <p:spPr>
          <a:xfrm>
            <a:off x="6227064" y="3200400"/>
            <a:ext cx="2377440" cy="1188720"/>
          </a:xfrm>
          <a:prstGeom prst="rect">
            <a:avLst/>
          </a:prstGeom>
          <a:noFill/>
          <a:ln/>
        </p:spPr>
        <p:txBody>
          <a:bodyPr wrap="square" lIns="0" tIns="0" rIns="0" bIns="0" rtlCol="0" anchor="ctr"/>
          <a:lstStyle/>
          <a:p>
            <a:pPr marL="0" indent="0" algn="ctr">
              <a:buNone/>
            </a:pPr>
            <a:r>
              <a:rPr lang="en-US" sz="1100" dirty="0">
                <a:solidFill>
                  <a:srgbClr val="94A3B8"/>
                </a:solidFill>
                <a:latin typeface="Calibri" pitchFamily="34" charset="0"/>
                <a:ea typeface="Calibri" pitchFamily="34" charset="-122"/>
                <a:cs typeface="Calibri" pitchFamily="34" charset="-120"/>
              </a:rPr>
              <a:t>Sales and marketing teams need clear, ranked market recommendations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182880"/>
            <a:ext cx="8229600" cy="54864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Solution Architecture</a:t>
            </a:r>
            <a:endParaRPr lang="en-US" sz="36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marL="0" indent="0">
              <a:buNone/>
            </a:pPr>
            <a:r>
              <a:rPr lang="en-US" sz="1400" dirty="0">
                <a:solidFill>
                  <a:srgbClr val="0D9488"/>
                </a:solidFill>
                <a:latin typeface="Calibri" pitchFamily="34" charset="0"/>
                <a:ea typeface="Calibri" pitchFamily="34" charset="-122"/>
                <a:cs typeface="Calibri" pitchFamily="34" charset="-120"/>
              </a:rPr>
              <a:t>Medallion Architecture — Bronze → Silver → Gold</a:t>
            </a:r>
            <a:endParaRPr lang="en-US" sz="1400" dirty="0"/>
          </a:p>
        </p:txBody>
      </p:sp>
      <p:sp>
        <p:nvSpPr>
          <p:cNvPr id="5" name="Shape 3"/>
          <p:cNvSpPr/>
          <p:nvPr/>
        </p:nvSpPr>
        <p:spPr>
          <a:xfrm>
            <a:off x="274320" y="1234440"/>
            <a:ext cx="1554480" cy="3108960"/>
          </a:xfrm>
          <a:prstGeom prst="rect">
            <a:avLst/>
          </a:prstGeom>
          <a:solidFill>
            <a:srgbClr val="1E293B"/>
          </a:solidFill>
          <a:ln w="12700">
            <a:solidFill>
              <a:srgbClr val="94A3B8"/>
            </a:solidFill>
            <a:prstDash val="solid"/>
          </a:ln>
          <a:effectLst>
            <a:outerShdw blurRad="101600" dist="38100" dir="8100000" algn="bl" rotWithShape="0">
              <a:srgbClr val="000000">
                <a:alpha val="18000"/>
              </a:srgbClr>
            </a:outerShdw>
          </a:effectLst>
        </p:spPr>
        <p:txBody>
          <a:bodyPr/>
          <a:lstStyle/>
          <a:p>
            <a:endParaRPr lang="en-US"/>
          </a:p>
        </p:txBody>
      </p:sp>
      <p:sp>
        <p:nvSpPr>
          <p:cNvPr id="6" name="Shape 4"/>
          <p:cNvSpPr/>
          <p:nvPr/>
        </p:nvSpPr>
        <p:spPr>
          <a:xfrm>
            <a:off x="274320" y="1234440"/>
            <a:ext cx="1554480" cy="411480"/>
          </a:xfrm>
          <a:prstGeom prst="rect">
            <a:avLst/>
          </a:prstGeom>
          <a:solidFill>
            <a:srgbClr val="94A3B8"/>
          </a:solidFill>
          <a:ln w="12700">
            <a:solidFill>
              <a:srgbClr val="94A3B8"/>
            </a:solidFill>
            <a:prstDash val="solid"/>
          </a:ln>
        </p:spPr>
        <p:txBody>
          <a:bodyPr/>
          <a:lstStyle/>
          <a:p>
            <a:endParaRPr lang="en-US"/>
          </a:p>
        </p:txBody>
      </p:sp>
      <p:sp>
        <p:nvSpPr>
          <p:cNvPr id="7" name="Text 5"/>
          <p:cNvSpPr/>
          <p:nvPr/>
        </p:nvSpPr>
        <p:spPr>
          <a:xfrm>
            <a:off x="274320" y="1252728"/>
            <a:ext cx="155448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p>
        </p:txBody>
      </p:sp>
      <p:sp>
        <p:nvSpPr>
          <p:cNvPr id="8" name="Text 6"/>
          <p:cNvSpPr/>
          <p:nvPr/>
        </p:nvSpPr>
        <p:spPr>
          <a:xfrm>
            <a:off x="320040" y="1709928"/>
            <a:ext cx="1463040" cy="320040"/>
          </a:xfrm>
          <a:prstGeom prst="rect">
            <a:avLst/>
          </a:prstGeom>
          <a:noFill/>
          <a:ln/>
        </p:spPr>
        <p:txBody>
          <a:bodyPr wrap="square" lIns="0" tIns="0" rIns="0" bIns="0" rtlCol="0" anchor="ctr"/>
          <a:lstStyle/>
          <a:p>
            <a:pPr marL="0" indent="0" algn="ctr">
              <a:buNone/>
            </a:pPr>
            <a:r>
              <a:rPr lang="en-US" sz="900" dirty="0">
                <a:solidFill>
                  <a:srgbClr val="14B8A6"/>
                </a:solidFill>
                <a:latin typeface="Calibri" pitchFamily="34" charset="0"/>
                <a:ea typeface="Calibri" pitchFamily="34" charset="-122"/>
                <a:cs typeface="Calibri" pitchFamily="34" charset="-120"/>
              </a:rPr>
              <a:t>4 CSV Files</a:t>
            </a:r>
            <a:endParaRPr lang="en-US" sz="900" dirty="0"/>
          </a:p>
        </p:txBody>
      </p:sp>
      <p:sp>
        <p:nvSpPr>
          <p:cNvPr id="9" name="Text 7"/>
          <p:cNvSpPr/>
          <p:nvPr/>
        </p:nvSpPr>
        <p:spPr>
          <a:xfrm>
            <a:off x="347472" y="2103120"/>
            <a:ext cx="1408176" cy="164592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Raw data landing zone</a:t>
            </a:r>
            <a:endParaRPr lang="en-US" sz="1000" dirty="0"/>
          </a:p>
          <a:p>
            <a:pPr marL="0" indent="0" algn="ctr">
              <a:buNone/>
            </a:pPr>
            <a:r>
              <a:rPr lang="en-US" sz="1000" dirty="0">
                <a:solidFill>
                  <a:srgbClr val="94A3B8"/>
                </a:solidFill>
                <a:latin typeface="Calibri" pitchFamily="34" charset="0"/>
                <a:ea typeface="Calibri" pitchFamily="34" charset="-122"/>
                <a:cs typeface="Calibri" pitchFamily="34" charset="-120"/>
              </a:rPr>
              <a:t>UN · WID · Continents · WHO</a:t>
            </a:r>
            <a:endParaRPr lang="en-US" sz="1000" dirty="0"/>
          </a:p>
        </p:txBody>
      </p:sp>
      <p:sp>
        <p:nvSpPr>
          <p:cNvPr id="10" name="Shape 8"/>
          <p:cNvSpPr/>
          <p:nvPr/>
        </p:nvSpPr>
        <p:spPr>
          <a:xfrm>
            <a:off x="1847088" y="2697480"/>
            <a:ext cx="512064" cy="36576"/>
          </a:xfrm>
          <a:prstGeom prst="rect">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2194560" y="2560320"/>
            <a:ext cx="228600" cy="320040"/>
          </a:xfrm>
          <a:prstGeom prst="rect">
            <a:avLst/>
          </a:prstGeom>
          <a:noFill/>
          <a:ln/>
        </p:spPr>
        <p:txBody>
          <a:bodyPr wrap="square" lIns="0" tIns="0" rIns="0" bIns="0" rtlCol="0" anchor="ctr"/>
          <a:lstStyle/>
          <a:p>
            <a:pPr marL="0" indent="0" algn="ctr">
              <a:buNone/>
            </a:pPr>
            <a:r>
              <a:rPr lang="en-US" sz="1200" dirty="0">
                <a:solidFill>
                  <a:srgbClr val="0D9488"/>
                </a:solidFill>
              </a:rPr>
              <a:t>▶</a:t>
            </a:r>
            <a:endParaRPr lang="en-US" sz="1200" dirty="0"/>
          </a:p>
        </p:txBody>
      </p:sp>
      <p:sp>
        <p:nvSpPr>
          <p:cNvPr id="12" name="Shape 10"/>
          <p:cNvSpPr/>
          <p:nvPr/>
        </p:nvSpPr>
        <p:spPr>
          <a:xfrm>
            <a:off x="2103120" y="1234440"/>
            <a:ext cx="1554480" cy="3108960"/>
          </a:xfrm>
          <a:prstGeom prst="rect">
            <a:avLst/>
          </a:prstGeom>
          <a:solidFill>
            <a:srgbClr val="1E293B"/>
          </a:solidFill>
          <a:ln w="12700">
            <a:solidFill>
              <a:srgbClr val="B45309"/>
            </a:solidFill>
            <a:prstDash val="solid"/>
          </a:ln>
          <a:effectLst>
            <a:outerShdw blurRad="101600" dist="38100" dir="8100000" algn="bl" rotWithShape="0">
              <a:srgbClr val="000000">
                <a:alpha val="18000"/>
              </a:srgbClr>
            </a:outerShdw>
          </a:effectLst>
        </p:spPr>
        <p:txBody>
          <a:bodyPr/>
          <a:lstStyle/>
          <a:p>
            <a:endParaRPr lang="en-US"/>
          </a:p>
        </p:txBody>
      </p:sp>
      <p:sp>
        <p:nvSpPr>
          <p:cNvPr id="13" name="Shape 11"/>
          <p:cNvSpPr/>
          <p:nvPr/>
        </p:nvSpPr>
        <p:spPr>
          <a:xfrm>
            <a:off x="2103120" y="1234440"/>
            <a:ext cx="1554480" cy="411480"/>
          </a:xfrm>
          <a:prstGeom prst="rect">
            <a:avLst/>
          </a:prstGeom>
          <a:solidFill>
            <a:srgbClr val="B45309"/>
          </a:solidFill>
          <a:ln w="12700">
            <a:solidFill>
              <a:srgbClr val="B45309"/>
            </a:solidFill>
            <a:prstDash val="solid"/>
          </a:ln>
        </p:spPr>
        <p:txBody>
          <a:bodyPr/>
          <a:lstStyle/>
          <a:p>
            <a:endParaRPr lang="en-US"/>
          </a:p>
        </p:txBody>
      </p:sp>
      <p:sp>
        <p:nvSpPr>
          <p:cNvPr id="14" name="Text 12"/>
          <p:cNvSpPr/>
          <p:nvPr/>
        </p:nvSpPr>
        <p:spPr>
          <a:xfrm>
            <a:off x="2103120" y="1252728"/>
            <a:ext cx="155448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BRONZE</a:t>
            </a:r>
            <a:endParaRPr lang="en-US" sz="1100" dirty="0"/>
          </a:p>
        </p:txBody>
      </p:sp>
      <p:sp>
        <p:nvSpPr>
          <p:cNvPr id="15" name="Text 13"/>
          <p:cNvSpPr/>
          <p:nvPr/>
        </p:nvSpPr>
        <p:spPr>
          <a:xfrm>
            <a:off x="2148840" y="1709928"/>
            <a:ext cx="1463040" cy="320040"/>
          </a:xfrm>
          <a:prstGeom prst="rect">
            <a:avLst/>
          </a:prstGeom>
          <a:noFill/>
          <a:ln/>
        </p:spPr>
        <p:txBody>
          <a:bodyPr wrap="square" lIns="0" tIns="0" rIns="0" bIns="0" rtlCol="0" anchor="ctr"/>
          <a:lstStyle/>
          <a:p>
            <a:pPr marL="0" indent="0" algn="ctr">
              <a:buNone/>
            </a:pPr>
            <a:r>
              <a:rPr lang="en-US" sz="900" dirty="0">
                <a:solidFill>
                  <a:srgbClr val="14B8A6"/>
                </a:solidFill>
                <a:latin typeface="Calibri" pitchFamily="34" charset="0"/>
                <a:ea typeface="Calibri" pitchFamily="34" charset="-122"/>
                <a:cs typeface="Calibri" pitchFamily="34" charset="-120"/>
              </a:rPr>
              <a:t>Raw Delta Tables</a:t>
            </a:r>
            <a:endParaRPr lang="en-US" sz="900" dirty="0"/>
          </a:p>
        </p:txBody>
      </p:sp>
      <p:sp>
        <p:nvSpPr>
          <p:cNvPr id="16" name="Text 14"/>
          <p:cNvSpPr/>
          <p:nvPr/>
        </p:nvSpPr>
        <p:spPr>
          <a:xfrm>
            <a:off x="2176272" y="2103120"/>
            <a:ext cx="1408176" cy="164592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Exact copy + metadata</a:t>
            </a:r>
            <a:endParaRPr lang="en-US" sz="1000" dirty="0"/>
          </a:p>
          <a:p>
            <a:pPr marL="0" indent="0" algn="ctr">
              <a:buNone/>
            </a:pPr>
            <a:r>
              <a:rPr lang="en-US" sz="1000" dirty="0">
                <a:solidFill>
                  <a:srgbClr val="94A3B8"/>
                </a:solidFill>
                <a:latin typeface="Calibri" pitchFamily="34" charset="0"/>
                <a:ea typeface="Calibri" pitchFamily="34" charset="-122"/>
                <a:cs typeface="Calibri" pitchFamily="34" charset="-120"/>
              </a:rPr>
              <a:t>Audit trail preserved</a:t>
            </a:r>
            <a:endParaRPr lang="en-US" sz="1000" dirty="0"/>
          </a:p>
        </p:txBody>
      </p:sp>
      <p:sp>
        <p:nvSpPr>
          <p:cNvPr id="17" name="Shape 15"/>
          <p:cNvSpPr/>
          <p:nvPr/>
        </p:nvSpPr>
        <p:spPr>
          <a:xfrm>
            <a:off x="3675888" y="2697480"/>
            <a:ext cx="512064" cy="36576"/>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4023360" y="2560320"/>
            <a:ext cx="228600" cy="320040"/>
          </a:xfrm>
          <a:prstGeom prst="rect">
            <a:avLst/>
          </a:prstGeom>
          <a:noFill/>
          <a:ln/>
        </p:spPr>
        <p:txBody>
          <a:bodyPr wrap="square" lIns="0" tIns="0" rIns="0" bIns="0" rtlCol="0" anchor="ctr"/>
          <a:lstStyle/>
          <a:p>
            <a:pPr marL="0" indent="0" algn="ctr">
              <a:buNone/>
            </a:pPr>
            <a:r>
              <a:rPr lang="en-US" sz="1200" dirty="0">
                <a:solidFill>
                  <a:srgbClr val="0D9488"/>
                </a:solidFill>
              </a:rPr>
              <a:t>▶</a:t>
            </a:r>
            <a:endParaRPr lang="en-US" sz="1200" dirty="0"/>
          </a:p>
        </p:txBody>
      </p:sp>
      <p:sp>
        <p:nvSpPr>
          <p:cNvPr id="19" name="Shape 17"/>
          <p:cNvSpPr/>
          <p:nvPr/>
        </p:nvSpPr>
        <p:spPr>
          <a:xfrm>
            <a:off x="3931920" y="1234440"/>
            <a:ext cx="1554480" cy="3108960"/>
          </a:xfrm>
          <a:prstGeom prst="rect">
            <a:avLst/>
          </a:prstGeom>
          <a:solidFill>
            <a:srgbClr val="1E293B"/>
          </a:solidFill>
          <a:ln w="12700">
            <a:solidFill>
              <a:srgbClr val="64748B"/>
            </a:solidFill>
            <a:prstDash val="solid"/>
          </a:ln>
          <a:effectLst>
            <a:outerShdw blurRad="101600" dist="38100" dir="8100000" algn="bl" rotWithShape="0">
              <a:srgbClr val="000000">
                <a:alpha val="18000"/>
              </a:srgbClr>
            </a:outerShdw>
          </a:effectLst>
        </p:spPr>
        <p:txBody>
          <a:bodyPr/>
          <a:lstStyle/>
          <a:p>
            <a:endParaRPr lang="en-US"/>
          </a:p>
        </p:txBody>
      </p:sp>
      <p:sp>
        <p:nvSpPr>
          <p:cNvPr id="20" name="Shape 18"/>
          <p:cNvSpPr/>
          <p:nvPr/>
        </p:nvSpPr>
        <p:spPr>
          <a:xfrm>
            <a:off x="3931920" y="1234440"/>
            <a:ext cx="1554480" cy="411480"/>
          </a:xfrm>
          <a:prstGeom prst="rect">
            <a:avLst/>
          </a:prstGeom>
          <a:solidFill>
            <a:srgbClr val="64748B"/>
          </a:solidFill>
          <a:ln w="12700">
            <a:solidFill>
              <a:srgbClr val="64748B"/>
            </a:solidFill>
            <a:prstDash val="solid"/>
          </a:ln>
        </p:spPr>
        <p:txBody>
          <a:bodyPr/>
          <a:lstStyle/>
          <a:p>
            <a:endParaRPr lang="en-US"/>
          </a:p>
        </p:txBody>
      </p:sp>
      <p:sp>
        <p:nvSpPr>
          <p:cNvPr id="21" name="Text 19"/>
          <p:cNvSpPr/>
          <p:nvPr/>
        </p:nvSpPr>
        <p:spPr>
          <a:xfrm>
            <a:off x="3931920" y="1252728"/>
            <a:ext cx="155448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SILVER</a:t>
            </a:r>
            <a:endParaRPr lang="en-US" sz="1100" dirty="0"/>
          </a:p>
        </p:txBody>
      </p:sp>
      <p:sp>
        <p:nvSpPr>
          <p:cNvPr id="22" name="Text 20"/>
          <p:cNvSpPr/>
          <p:nvPr/>
        </p:nvSpPr>
        <p:spPr>
          <a:xfrm>
            <a:off x="3977640" y="1709928"/>
            <a:ext cx="1463040" cy="320040"/>
          </a:xfrm>
          <a:prstGeom prst="rect">
            <a:avLst/>
          </a:prstGeom>
          <a:noFill/>
          <a:ln/>
        </p:spPr>
        <p:txBody>
          <a:bodyPr wrap="square" lIns="0" tIns="0" rIns="0" bIns="0" rtlCol="0" anchor="ctr"/>
          <a:lstStyle/>
          <a:p>
            <a:pPr marL="0" indent="0" algn="ctr">
              <a:buNone/>
            </a:pPr>
            <a:r>
              <a:rPr lang="en-US" sz="900" dirty="0">
                <a:solidFill>
                  <a:srgbClr val="14B8A6"/>
                </a:solidFill>
                <a:latin typeface="Calibri" pitchFamily="34" charset="0"/>
                <a:ea typeface="Calibri" pitchFamily="34" charset="-122"/>
                <a:cs typeface="Calibri" pitchFamily="34" charset="-120"/>
              </a:rPr>
              <a:t>Cleaned &amp; Joined</a:t>
            </a:r>
            <a:endParaRPr lang="en-US" sz="900" dirty="0"/>
          </a:p>
        </p:txBody>
      </p:sp>
      <p:sp>
        <p:nvSpPr>
          <p:cNvPr id="23" name="Text 21"/>
          <p:cNvSpPr/>
          <p:nvPr/>
        </p:nvSpPr>
        <p:spPr>
          <a:xfrm>
            <a:off x="4005072" y="2103120"/>
            <a:ext cx="1408176" cy="164592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Standardised, joined</a:t>
            </a:r>
            <a:endParaRPr lang="en-US" sz="1000" dirty="0"/>
          </a:p>
          <a:p>
            <a:pPr marL="0" indent="0" algn="ctr">
              <a:buNone/>
            </a:pPr>
            <a:r>
              <a:rPr lang="en-US" sz="1000" dirty="0">
                <a:solidFill>
                  <a:srgbClr val="94A3B8"/>
                </a:solidFill>
                <a:latin typeface="Calibri" pitchFamily="34" charset="0"/>
                <a:ea typeface="Calibri" pitchFamily="34" charset="-122"/>
                <a:cs typeface="Calibri" pitchFamily="34" charset="-120"/>
              </a:rPr>
              <a:t>23,735 rows</a:t>
            </a:r>
            <a:endParaRPr lang="en-US" sz="1000" dirty="0"/>
          </a:p>
        </p:txBody>
      </p:sp>
      <p:sp>
        <p:nvSpPr>
          <p:cNvPr id="24" name="Shape 22"/>
          <p:cNvSpPr/>
          <p:nvPr/>
        </p:nvSpPr>
        <p:spPr>
          <a:xfrm>
            <a:off x="5504688" y="2697480"/>
            <a:ext cx="512064" cy="36576"/>
          </a:xfrm>
          <a:prstGeom prst="rect">
            <a:avLst/>
          </a:prstGeom>
          <a:solidFill>
            <a:srgbClr val="0D9488"/>
          </a:solidFill>
          <a:ln w="12700">
            <a:solidFill>
              <a:srgbClr val="0D9488"/>
            </a:solidFill>
            <a:prstDash val="solid"/>
          </a:ln>
        </p:spPr>
        <p:txBody>
          <a:bodyPr/>
          <a:lstStyle/>
          <a:p>
            <a:endParaRPr lang="en-US"/>
          </a:p>
        </p:txBody>
      </p:sp>
      <p:sp>
        <p:nvSpPr>
          <p:cNvPr id="25" name="Text 23"/>
          <p:cNvSpPr/>
          <p:nvPr/>
        </p:nvSpPr>
        <p:spPr>
          <a:xfrm>
            <a:off x="5852160" y="2560320"/>
            <a:ext cx="228600" cy="320040"/>
          </a:xfrm>
          <a:prstGeom prst="rect">
            <a:avLst/>
          </a:prstGeom>
          <a:noFill/>
          <a:ln/>
        </p:spPr>
        <p:txBody>
          <a:bodyPr wrap="square" lIns="0" tIns="0" rIns="0" bIns="0" rtlCol="0" anchor="ctr"/>
          <a:lstStyle/>
          <a:p>
            <a:pPr marL="0" indent="0" algn="ctr">
              <a:buNone/>
            </a:pPr>
            <a:r>
              <a:rPr lang="en-US" sz="1200" dirty="0">
                <a:solidFill>
                  <a:srgbClr val="0D9488"/>
                </a:solidFill>
              </a:rPr>
              <a:t>▶</a:t>
            </a:r>
            <a:endParaRPr lang="en-US" sz="1200" dirty="0"/>
          </a:p>
        </p:txBody>
      </p:sp>
      <p:sp>
        <p:nvSpPr>
          <p:cNvPr id="26" name="Shape 24"/>
          <p:cNvSpPr/>
          <p:nvPr/>
        </p:nvSpPr>
        <p:spPr>
          <a:xfrm>
            <a:off x="5760720" y="1234440"/>
            <a:ext cx="1554480" cy="3108960"/>
          </a:xfrm>
          <a:prstGeom prst="rect">
            <a:avLst/>
          </a:prstGeom>
          <a:solidFill>
            <a:srgbClr val="1E293B"/>
          </a:solidFill>
          <a:ln w="12700">
            <a:solidFill>
              <a:srgbClr val="D97706"/>
            </a:solidFill>
            <a:prstDash val="solid"/>
          </a:ln>
          <a:effectLst>
            <a:outerShdw blurRad="101600" dist="38100" dir="8100000" algn="bl" rotWithShape="0">
              <a:srgbClr val="000000">
                <a:alpha val="18000"/>
              </a:srgbClr>
            </a:outerShdw>
          </a:effectLst>
        </p:spPr>
        <p:txBody>
          <a:bodyPr/>
          <a:lstStyle/>
          <a:p>
            <a:endParaRPr lang="en-US"/>
          </a:p>
        </p:txBody>
      </p:sp>
      <p:sp>
        <p:nvSpPr>
          <p:cNvPr id="27" name="Shape 25"/>
          <p:cNvSpPr/>
          <p:nvPr/>
        </p:nvSpPr>
        <p:spPr>
          <a:xfrm>
            <a:off x="5760720" y="1234440"/>
            <a:ext cx="1554480" cy="411480"/>
          </a:xfrm>
          <a:prstGeom prst="rect">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5760720" y="1252728"/>
            <a:ext cx="155448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GOLD</a:t>
            </a:r>
            <a:endParaRPr lang="en-US" sz="1100" dirty="0"/>
          </a:p>
        </p:txBody>
      </p:sp>
      <p:sp>
        <p:nvSpPr>
          <p:cNvPr id="29" name="Text 27"/>
          <p:cNvSpPr/>
          <p:nvPr/>
        </p:nvSpPr>
        <p:spPr>
          <a:xfrm>
            <a:off x="5806440" y="1709928"/>
            <a:ext cx="1463040" cy="320040"/>
          </a:xfrm>
          <a:prstGeom prst="rect">
            <a:avLst/>
          </a:prstGeom>
          <a:noFill/>
          <a:ln/>
        </p:spPr>
        <p:txBody>
          <a:bodyPr wrap="square" lIns="0" tIns="0" rIns="0" bIns="0" rtlCol="0" anchor="ctr"/>
          <a:lstStyle/>
          <a:p>
            <a:pPr marL="0" indent="0" algn="ctr">
              <a:buNone/>
            </a:pPr>
            <a:r>
              <a:rPr lang="en-US" sz="900" dirty="0">
                <a:solidFill>
                  <a:srgbClr val="14B8A6"/>
                </a:solidFill>
                <a:latin typeface="Calibri" pitchFamily="34" charset="0"/>
                <a:ea typeface="Calibri" pitchFamily="34" charset="-122"/>
                <a:cs typeface="Calibri" pitchFamily="34" charset="-120"/>
              </a:rPr>
              <a:t>Business Ready</a:t>
            </a:r>
            <a:endParaRPr lang="en-US" sz="900" dirty="0"/>
          </a:p>
        </p:txBody>
      </p:sp>
      <p:sp>
        <p:nvSpPr>
          <p:cNvPr id="30" name="Text 28"/>
          <p:cNvSpPr/>
          <p:nvPr/>
        </p:nvSpPr>
        <p:spPr>
          <a:xfrm>
            <a:off x="5833872" y="2103120"/>
            <a:ext cx="1408176" cy="164592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4 aggregated tables</a:t>
            </a:r>
            <a:endParaRPr lang="en-US" sz="1000" dirty="0"/>
          </a:p>
          <a:p>
            <a:pPr marL="0" indent="0" algn="ctr">
              <a:buNone/>
            </a:pPr>
            <a:r>
              <a:rPr lang="en-US" sz="1000" dirty="0">
                <a:solidFill>
                  <a:srgbClr val="94A3B8"/>
                </a:solidFill>
                <a:latin typeface="Calibri" pitchFamily="34" charset="0"/>
                <a:ea typeface="Calibri" pitchFamily="34" charset="-122"/>
                <a:cs typeface="Calibri" pitchFamily="34" charset="-120"/>
              </a:rPr>
              <a:t>Optimised for PowerBI</a:t>
            </a:r>
            <a:endParaRPr lang="en-US" sz="1000" dirty="0"/>
          </a:p>
        </p:txBody>
      </p:sp>
      <p:sp>
        <p:nvSpPr>
          <p:cNvPr id="31" name="Shape 29"/>
          <p:cNvSpPr/>
          <p:nvPr/>
        </p:nvSpPr>
        <p:spPr>
          <a:xfrm>
            <a:off x="7333488" y="2697480"/>
            <a:ext cx="512064" cy="36576"/>
          </a:xfrm>
          <a:prstGeom prst="rect">
            <a:avLst/>
          </a:prstGeom>
          <a:solidFill>
            <a:srgbClr val="0D9488"/>
          </a:solidFill>
          <a:ln w="12700">
            <a:solidFill>
              <a:srgbClr val="0D9488"/>
            </a:solidFill>
            <a:prstDash val="solid"/>
          </a:ln>
        </p:spPr>
        <p:txBody>
          <a:bodyPr/>
          <a:lstStyle/>
          <a:p>
            <a:endParaRPr lang="en-US"/>
          </a:p>
        </p:txBody>
      </p:sp>
      <p:sp>
        <p:nvSpPr>
          <p:cNvPr id="32" name="Text 30"/>
          <p:cNvSpPr/>
          <p:nvPr/>
        </p:nvSpPr>
        <p:spPr>
          <a:xfrm>
            <a:off x="7680960" y="2560320"/>
            <a:ext cx="228600" cy="320040"/>
          </a:xfrm>
          <a:prstGeom prst="rect">
            <a:avLst/>
          </a:prstGeom>
          <a:noFill/>
          <a:ln/>
        </p:spPr>
        <p:txBody>
          <a:bodyPr wrap="square" lIns="0" tIns="0" rIns="0" bIns="0" rtlCol="0" anchor="ctr"/>
          <a:lstStyle/>
          <a:p>
            <a:pPr marL="0" indent="0" algn="ctr">
              <a:buNone/>
            </a:pPr>
            <a:r>
              <a:rPr lang="en-US" sz="1200" dirty="0">
                <a:solidFill>
                  <a:srgbClr val="0D9488"/>
                </a:solidFill>
              </a:rPr>
              <a:t>▶</a:t>
            </a:r>
            <a:endParaRPr lang="en-US" sz="1200" dirty="0"/>
          </a:p>
        </p:txBody>
      </p:sp>
      <p:sp>
        <p:nvSpPr>
          <p:cNvPr id="33" name="Shape 31"/>
          <p:cNvSpPr/>
          <p:nvPr/>
        </p:nvSpPr>
        <p:spPr>
          <a:xfrm>
            <a:off x="7589520" y="1234440"/>
            <a:ext cx="1554480" cy="3108960"/>
          </a:xfrm>
          <a:prstGeom prst="rect">
            <a:avLst/>
          </a:prstGeom>
          <a:solidFill>
            <a:srgbClr val="1E293B"/>
          </a:solidFill>
          <a:ln w="12700">
            <a:solidFill>
              <a:srgbClr val="0D9488"/>
            </a:solidFill>
            <a:prstDash val="solid"/>
          </a:ln>
          <a:effectLst>
            <a:outerShdw blurRad="101600" dist="38100" dir="8100000" algn="bl" rotWithShape="0">
              <a:srgbClr val="000000">
                <a:alpha val="18000"/>
              </a:srgbClr>
            </a:outerShdw>
          </a:effectLst>
        </p:spPr>
        <p:txBody>
          <a:bodyPr/>
          <a:lstStyle/>
          <a:p>
            <a:endParaRPr lang="en-US"/>
          </a:p>
        </p:txBody>
      </p:sp>
      <p:sp>
        <p:nvSpPr>
          <p:cNvPr id="34" name="Shape 32"/>
          <p:cNvSpPr/>
          <p:nvPr/>
        </p:nvSpPr>
        <p:spPr>
          <a:xfrm>
            <a:off x="7589520" y="1234440"/>
            <a:ext cx="1554480" cy="411480"/>
          </a:xfrm>
          <a:prstGeom prst="rect">
            <a:avLst/>
          </a:prstGeom>
          <a:solidFill>
            <a:srgbClr val="0D9488"/>
          </a:solidFill>
          <a:ln w="12700">
            <a:solidFill>
              <a:srgbClr val="0D9488"/>
            </a:solidFill>
            <a:prstDash val="solid"/>
          </a:ln>
        </p:spPr>
        <p:txBody>
          <a:bodyPr/>
          <a:lstStyle/>
          <a:p>
            <a:endParaRPr lang="en-US"/>
          </a:p>
        </p:txBody>
      </p:sp>
      <p:sp>
        <p:nvSpPr>
          <p:cNvPr id="35" name="Text 33"/>
          <p:cNvSpPr/>
          <p:nvPr/>
        </p:nvSpPr>
        <p:spPr>
          <a:xfrm>
            <a:off x="7589520" y="1252728"/>
            <a:ext cx="155448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POWERBI</a:t>
            </a:r>
            <a:endParaRPr lang="en-US" sz="1100" dirty="0"/>
          </a:p>
        </p:txBody>
      </p:sp>
      <p:sp>
        <p:nvSpPr>
          <p:cNvPr id="36" name="Text 34"/>
          <p:cNvSpPr/>
          <p:nvPr/>
        </p:nvSpPr>
        <p:spPr>
          <a:xfrm>
            <a:off x="7635240" y="1709928"/>
            <a:ext cx="1463040" cy="320040"/>
          </a:xfrm>
          <a:prstGeom prst="rect">
            <a:avLst/>
          </a:prstGeom>
          <a:noFill/>
          <a:ln/>
        </p:spPr>
        <p:txBody>
          <a:bodyPr wrap="square" lIns="0" tIns="0" rIns="0" bIns="0" rtlCol="0" anchor="ctr"/>
          <a:lstStyle/>
          <a:p>
            <a:pPr marL="0" indent="0" algn="ctr">
              <a:buNone/>
            </a:pPr>
            <a:r>
              <a:rPr lang="en-US" sz="900" dirty="0">
                <a:solidFill>
                  <a:srgbClr val="14B8A6"/>
                </a:solidFill>
                <a:latin typeface="Calibri" pitchFamily="34" charset="0"/>
                <a:ea typeface="Calibri" pitchFamily="34" charset="-122"/>
                <a:cs typeface="Calibri" pitchFamily="34" charset="-120"/>
              </a:rPr>
              <a:t>Report</a:t>
            </a:r>
            <a:endParaRPr lang="en-US" sz="900" dirty="0"/>
          </a:p>
        </p:txBody>
      </p:sp>
      <p:sp>
        <p:nvSpPr>
          <p:cNvPr id="37" name="Text 35"/>
          <p:cNvSpPr/>
          <p:nvPr/>
        </p:nvSpPr>
        <p:spPr>
          <a:xfrm>
            <a:off x="7662672" y="2103120"/>
            <a:ext cx="1408176" cy="164592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3-page dashboard</a:t>
            </a:r>
            <a:endParaRPr lang="en-US" sz="1000" dirty="0"/>
          </a:p>
          <a:p>
            <a:pPr marL="0" indent="0" algn="ctr">
              <a:buNone/>
            </a:pPr>
            <a:r>
              <a:rPr lang="en-US" sz="1000" dirty="0">
                <a:solidFill>
                  <a:srgbClr val="94A3B8"/>
                </a:solidFill>
                <a:latin typeface="Calibri" pitchFamily="34" charset="0"/>
                <a:ea typeface="Calibri" pitchFamily="34" charset="-122"/>
                <a:cs typeface="Calibri" pitchFamily="34" charset="-120"/>
              </a:rPr>
              <a:t>Interactive visuals</a:t>
            </a:r>
            <a:endParaRPr lang="en-US" sz="1000" dirty="0"/>
          </a:p>
        </p:txBody>
      </p:sp>
      <p:sp>
        <p:nvSpPr>
          <p:cNvPr id="38" name="Shape 36"/>
          <p:cNvSpPr/>
          <p:nvPr/>
        </p:nvSpPr>
        <p:spPr>
          <a:xfrm>
            <a:off x="274320" y="4480560"/>
            <a:ext cx="8595360" cy="411480"/>
          </a:xfrm>
          <a:prstGeom prst="rect">
            <a:avLst/>
          </a:prstGeom>
          <a:solidFill>
            <a:srgbClr val="1E293B"/>
          </a:solidFill>
          <a:ln w="12700">
            <a:solidFill>
              <a:srgbClr val="0D9488"/>
            </a:solidFill>
            <a:prstDash val="solid"/>
          </a:ln>
        </p:spPr>
        <p:txBody>
          <a:bodyPr/>
          <a:lstStyle/>
          <a:p>
            <a:endParaRPr lang="en-US"/>
          </a:p>
        </p:txBody>
      </p:sp>
      <p:sp>
        <p:nvSpPr>
          <p:cNvPr id="39" name="Text 37"/>
          <p:cNvSpPr/>
          <p:nvPr/>
        </p:nvSpPr>
        <p:spPr>
          <a:xfrm>
            <a:off x="365760" y="4507992"/>
            <a:ext cx="8412480" cy="347472"/>
          </a:xfrm>
          <a:prstGeom prst="rect">
            <a:avLst/>
          </a:prstGeom>
          <a:noFill/>
          <a:ln/>
        </p:spPr>
        <p:txBody>
          <a:bodyPr wrap="square" lIns="0" tIns="0" rIns="0" bIns="0" rtlCol="0" anchor="ctr"/>
          <a:lstStyle/>
          <a:p>
            <a:pPr marL="0" indent="0" algn="ctr">
              <a:buNone/>
            </a:pPr>
            <a:r>
              <a:rPr lang="en-US" sz="1000" dirty="0">
                <a:solidFill>
                  <a:srgbClr val="0D9488"/>
                </a:solidFill>
                <a:latin typeface="Calibri" pitchFamily="34" charset="0"/>
                <a:ea typeface="Calibri" pitchFamily="34" charset="-122"/>
                <a:cs typeface="Calibri" pitchFamily="34" charset="-120"/>
              </a:rPr>
              <a:t>Key Principles:  Separation of Concerns  •  Single Source of Truth  •  Idempotency  •  Transparency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a:extLst>
            <a:ext uri="{FF2B5EF4-FFF2-40B4-BE49-F238E27FC236}">
              <a16:creationId xmlns:a16="http://schemas.microsoft.com/office/drawing/2014/main" id="{2E0BBA91-2F0F-9C81-E78A-F5AF4773959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C605734-FA76-E444-D0BB-0A52F7844822}"/>
              </a:ext>
            </a:extLst>
          </p:cNvPr>
          <p:cNvSpPr/>
          <p:nvPr/>
        </p:nvSpPr>
        <p:spPr>
          <a:xfrm>
            <a:off x="0" y="0"/>
            <a:ext cx="73152" cy="5143500"/>
          </a:xfrm>
          <a:prstGeom prst="rect">
            <a:avLst/>
          </a:prstGeom>
          <a:solidFill>
            <a:srgbClr val="0D9488"/>
          </a:solidFill>
          <a:ln w="12700">
            <a:solidFill>
              <a:srgbClr val="0D9488"/>
            </a:solidFill>
            <a:prstDash val="solid"/>
          </a:ln>
        </p:spPr>
        <p:txBody>
          <a:bodyPr/>
          <a:lstStyle/>
          <a:p>
            <a:endParaRPr lang="en-US"/>
          </a:p>
        </p:txBody>
      </p:sp>
      <p:sp>
        <p:nvSpPr>
          <p:cNvPr id="3" name="Shape 1">
            <a:extLst>
              <a:ext uri="{FF2B5EF4-FFF2-40B4-BE49-F238E27FC236}">
                <a16:creationId xmlns:a16="http://schemas.microsoft.com/office/drawing/2014/main" id="{DCDE7B3F-3142-7DBE-036A-95A50D72349B}"/>
              </a:ext>
            </a:extLst>
          </p:cNvPr>
          <p:cNvSpPr/>
          <p:nvPr/>
        </p:nvSpPr>
        <p:spPr>
          <a:xfrm>
            <a:off x="7132320" y="-731520"/>
            <a:ext cx="3200400" cy="3200400"/>
          </a:xfrm>
          <a:prstGeom prst="ellipse">
            <a:avLst/>
          </a:prstGeom>
          <a:solidFill>
            <a:srgbClr val="0D9488">
              <a:alpha val="15000"/>
            </a:srgbClr>
          </a:solidFill>
          <a:ln w="12700">
            <a:solidFill>
              <a:srgbClr val="0D9488">
                <a:alpha val="15000"/>
              </a:srgbClr>
            </a:solidFill>
            <a:prstDash val="solid"/>
          </a:ln>
        </p:spPr>
        <p:txBody>
          <a:bodyPr/>
          <a:lstStyle/>
          <a:p>
            <a:endParaRPr lang="en-US"/>
          </a:p>
        </p:txBody>
      </p:sp>
      <p:sp>
        <p:nvSpPr>
          <p:cNvPr id="5" name="Text 3">
            <a:extLst>
              <a:ext uri="{FF2B5EF4-FFF2-40B4-BE49-F238E27FC236}">
                <a16:creationId xmlns:a16="http://schemas.microsoft.com/office/drawing/2014/main" id="{B043618C-CAAF-A616-C8B6-744944726FA2}"/>
              </a:ext>
            </a:extLst>
          </p:cNvPr>
          <p:cNvSpPr/>
          <p:nvPr/>
        </p:nvSpPr>
        <p:spPr>
          <a:xfrm>
            <a:off x="457200" y="281353"/>
            <a:ext cx="7315200" cy="320040"/>
          </a:xfrm>
          <a:prstGeom prst="rect">
            <a:avLst/>
          </a:prstGeom>
          <a:noFill/>
          <a:ln/>
        </p:spPr>
        <p:txBody>
          <a:bodyPr wrap="square" lIns="0" tIns="0" rIns="0" bIns="0" rtlCol="0" anchor="ctr"/>
          <a:lstStyle/>
          <a:p>
            <a:pPr marL="0" indent="0">
              <a:buNone/>
            </a:pPr>
            <a:r>
              <a:rPr lang="en-US" sz="2400" b="1" dirty="0" err="1">
                <a:solidFill>
                  <a:srgbClr val="2BAEAB"/>
                </a:solidFill>
              </a:rPr>
              <a:t>Urbanisation</a:t>
            </a:r>
            <a:r>
              <a:rPr lang="en-US" sz="2400" b="1" dirty="0">
                <a:solidFill>
                  <a:srgbClr val="2BAEAB"/>
                </a:solidFill>
              </a:rPr>
              <a:t> Prospects - Data Pipeline Architecture</a:t>
            </a:r>
          </a:p>
        </p:txBody>
      </p:sp>
      <p:sp>
        <p:nvSpPr>
          <p:cNvPr id="17" name="Shape 15">
            <a:extLst>
              <a:ext uri="{FF2B5EF4-FFF2-40B4-BE49-F238E27FC236}">
                <a16:creationId xmlns:a16="http://schemas.microsoft.com/office/drawing/2014/main" id="{DBCBDBB6-B182-D688-96C6-E977C5C19A32}"/>
              </a:ext>
            </a:extLst>
          </p:cNvPr>
          <p:cNvSpPr/>
          <p:nvPr/>
        </p:nvSpPr>
        <p:spPr>
          <a:xfrm>
            <a:off x="0" y="4846320"/>
            <a:ext cx="9144000" cy="297180"/>
          </a:xfrm>
          <a:prstGeom prst="rect">
            <a:avLst/>
          </a:prstGeom>
          <a:solidFill>
            <a:srgbClr val="1E293B"/>
          </a:solidFill>
          <a:ln w="12700">
            <a:solidFill>
              <a:srgbClr val="1E293B"/>
            </a:solidFill>
            <a:prstDash val="solid"/>
          </a:ln>
        </p:spPr>
        <p:txBody>
          <a:bodyPr/>
          <a:lstStyle/>
          <a:p>
            <a:endParaRPr lang="en-US"/>
          </a:p>
        </p:txBody>
      </p:sp>
      <p:sp>
        <p:nvSpPr>
          <p:cNvPr id="18" name="Text 16">
            <a:extLst>
              <a:ext uri="{FF2B5EF4-FFF2-40B4-BE49-F238E27FC236}">
                <a16:creationId xmlns:a16="http://schemas.microsoft.com/office/drawing/2014/main" id="{D4FB5E47-B71E-2FE9-9B44-E8220F4D70F7}"/>
              </a:ext>
            </a:extLst>
          </p:cNvPr>
          <p:cNvSpPr/>
          <p:nvPr/>
        </p:nvSpPr>
        <p:spPr>
          <a:xfrm>
            <a:off x="457200" y="4864608"/>
            <a:ext cx="8229600" cy="256032"/>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Microsoft Fabric  •  PowerBI  •  Delta Lake  •  Medallion Architecture</a:t>
            </a:r>
            <a:endParaRPr lang="en-US" sz="1000" dirty="0"/>
          </a:p>
        </p:txBody>
      </p:sp>
      <p:pic>
        <p:nvPicPr>
          <p:cNvPr id="20" name="Picture 19">
            <a:extLst>
              <a:ext uri="{FF2B5EF4-FFF2-40B4-BE49-F238E27FC236}">
                <a16:creationId xmlns:a16="http://schemas.microsoft.com/office/drawing/2014/main" id="{41A99828-7B26-7F73-3034-E379CF27D6A3}"/>
              </a:ext>
            </a:extLst>
          </p:cNvPr>
          <p:cNvPicPr>
            <a:picLocks noChangeAspect="1"/>
          </p:cNvPicPr>
          <p:nvPr/>
        </p:nvPicPr>
        <p:blipFill>
          <a:blip r:embed="rId3">
            <a:alphaModFix amt="45000"/>
          </a:blip>
          <a:stretch>
            <a:fillRect/>
          </a:stretch>
        </p:blipFill>
        <p:spPr>
          <a:xfrm>
            <a:off x="239151" y="1013482"/>
            <a:ext cx="8609428" cy="3642924"/>
          </a:xfrm>
          <a:prstGeom prst="rect">
            <a:avLst/>
          </a:prstGeom>
        </p:spPr>
      </p:pic>
    </p:spTree>
    <p:extLst>
      <p:ext uri="{BB962C8B-B14F-4D97-AF65-F5344CB8AC3E}">
        <p14:creationId xmlns:p14="http://schemas.microsoft.com/office/powerpoint/2010/main" val="6639724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182880"/>
            <a:ext cx="8229600" cy="548640"/>
          </a:xfrm>
          <a:prstGeom prst="rect">
            <a:avLst/>
          </a:prstGeom>
          <a:noFill/>
          <a:ln/>
        </p:spPr>
        <p:txBody>
          <a:bodyPr wrap="square" lIns="0" tIns="0" rIns="0" bIns="0" rtlCol="0" anchor="ctr"/>
          <a:lstStyle/>
          <a:p>
            <a:pPr marL="0" indent="0">
              <a:buNone/>
            </a:pPr>
            <a:r>
              <a:rPr lang="en-US" sz="3600" b="1" dirty="0">
                <a:solidFill>
                  <a:srgbClr val="0D1B2A"/>
                </a:solidFill>
                <a:latin typeface="Georgia" pitchFamily="34" charset="0"/>
                <a:ea typeface="Georgia" pitchFamily="34" charset="-122"/>
                <a:cs typeface="Georgia" pitchFamily="34" charset="-120"/>
              </a:rPr>
              <a:t>Data Sources</a:t>
            </a:r>
            <a:endParaRPr lang="en-US" sz="3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2560320"/>
        </p:xfrm>
        <a:graphic>
          <a:graphicData uri="http://schemas.openxmlformats.org/drawingml/2006/table">
            <a:tbl>
              <a:tblPr/>
              <a:tblGrid>
                <a:gridCol w="25603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12064">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Rows</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Key Columns</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Challenge</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512064">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UN World Urbanisation Prospects 2018</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27,573</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Entity, Year, Urban Pop, Rural Pop</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Contains regional aggregates — filtered out</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1"/>
                  </a:ext>
                </a:extLst>
              </a:tr>
              <a:tr h="512064">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World Inequality Database — Pretax Income</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7,078</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Entity, Year, Mean Income, Gini</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Sparse coverage — 64% of countries</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Countries &amp; Continents</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285</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Entity, Continent</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Name mismatches with other datasets</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8FAFC"/>
                    </a:solidFill>
                  </a:tcPr>
                </a:tc>
                <a:extLst>
                  <a:ext uri="{0D108BD9-81ED-4DB2-BD59-A6C34878D82A}">
                    <a16:rowId xmlns:a16="http://schemas.microsoft.com/office/drawing/2014/main" val="10003"/>
                  </a:ext>
                </a:extLst>
              </a:tr>
              <a:tr h="512064">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OWID Country to WHO Regions</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194</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Entity, WHO Region</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100" dirty="0">
                          <a:solidFill>
                            <a:srgbClr val="0D1B2A"/>
                          </a:solidFill>
                          <a:latin typeface="Calibri" pitchFamily="34" charset="0"/>
                          <a:ea typeface="Calibri" pitchFamily="34" charset="-122"/>
                          <a:cs typeface="Calibri" pitchFamily="34" charset="-120"/>
                        </a:rPr>
                        <a:t>Different country name format</a:t>
                      </a:r>
                      <a:endParaRPr lang="en-US" sz="1100" dirty="0">
                        <a:latin typeface="Calibri" charset="0"/>
                        <a:ea typeface="Calibri" charset="0"/>
                        <a:cs typeface="Calibri" charset="0"/>
                      </a:endParaRPr>
                    </a:p>
                  </a:txBody>
                  <a:tcP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 name="Shape 2"/>
          <p:cNvSpPr/>
          <p:nvPr/>
        </p:nvSpPr>
        <p:spPr>
          <a:xfrm>
            <a:off x="457200" y="3657600"/>
            <a:ext cx="8229600" cy="1143000"/>
          </a:xfrm>
          <a:prstGeom prst="rect">
            <a:avLst/>
          </a:prstGeom>
          <a:solidFill>
            <a:srgbClr val="0D1B2A"/>
          </a:solidFill>
          <a:ln w="12700">
            <a:solidFill>
              <a:srgbClr val="0D1B2A"/>
            </a:solidFill>
            <a:prstDash val="solid"/>
          </a:ln>
          <a:effectLst>
            <a:outerShdw blurRad="101600" dist="38100" dir="8100000" algn="bl" rotWithShape="0">
              <a:srgbClr val="000000">
                <a:alpha val="18000"/>
              </a:srgbClr>
            </a:outerShdw>
          </a:effectLst>
        </p:spPr>
        <p:txBody>
          <a:bodyPr/>
          <a:lstStyle/>
          <a:p>
            <a:endParaRPr lang="en-US"/>
          </a:p>
        </p:txBody>
      </p:sp>
      <p:sp>
        <p:nvSpPr>
          <p:cNvPr id="6" name="Text 3"/>
          <p:cNvSpPr/>
          <p:nvPr/>
        </p:nvSpPr>
        <p:spPr>
          <a:xfrm>
            <a:off x="640080" y="3730752"/>
            <a:ext cx="7863840" cy="347472"/>
          </a:xfrm>
          <a:prstGeom prst="rect">
            <a:avLst/>
          </a:prstGeom>
          <a:noFill/>
          <a:ln/>
        </p:spPr>
        <p:txBody>
          <a:bodyPr wrap="square" lIns="0" tIns="0" rIns="0" bIns="0" rtlCol="0" anchor="ctr"/>
          <a:lstStyle/>
          <a:p>
            <a:pPr marL="0" indent="0">
              <a:buNone/>
            </a:pPr>
            <a:r>
              <a:rPr lang="en-US" sz="1300" b="1" dirty="0">
                <a:solidFill>
                  <a:srgbClr val="F59E0B"/>
                </a:solidFill>
                <a:latin typeface="Georgia" pitchFamily="34" charset="0"/>
                <a:ea typeface="Georgia" pitchFamily="34" charset="-122"/>
                <a:cs typeface="Georgia" pitchFamily="34" charset="-120"/>
              </a:rPr>
              <a:t>🔑  Key Engineering Challenge</a:t>
            </a:r>
            <a:endParaRPr lang="en-US" sz="1300" dirty="0"/>
          </a:p>
        </p:txBody>
      </p:sp>
      <p:sp>
        <p:nvSpPr>
          <p:cNvPr id="7" name="Text 4"/>
          <p:cNvSpPr/>
          <p:nvPr/>
        </p:nvSpPr>
        <p:spPr>
          <a:xfrm>
            <a:off x="640080" y="4096512"/>
            <a:ext cx="7863840" cy="59436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All four datasets refer to countries differently — full UN names, common names, ISO codes. I solved this by building a Country Dimension Table that standardises 233 countries into a single source of truth.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182880"/>
            <a:ext cx="8229600" cy="548640"/>
          </a:xfrm>
          <a:prstGeom prst="rect">
            <a:avLst/>
          </a:prstGeom>
          <a:noFill/>
          <a:ln/>
        </p:spPr>
        <p:txBody>
          <a:bodyPr wrap="square" lIns="0" tIns="0" rIns="0" bIns="0"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Real-World Data Engineering Challenge</a:t>
            </a:r>
            <a:endParaRPr lang="en-US" sz="3200" dirty="0"/>
          </a:p>
        </p:txBody>
      </p:sp>
      <p:sp>
        <p:nvSpPr>
          <p:cNvPr id="4" name="Text 2"/>
          <p:cNvSpPr/>
          <p:nvPr/>
        </p:nvSpPr>
        <p:spPr>
          <a:xfrm>
            <a:off x="457200" y="749808"/>
            <a:ext cx="8229600" cy="320040"/>
          </a:xfrm>
          <a:prstGeom prst="rect">
            <a:avLst/>
          </a:prstGeom>
          <a:noFill/>
          <a:ln/>
        </p:spPr>
        <p:txBody>
          <a:bodyPr wrap="square" lIns="0" tIns="0" rIns="0" bIns="0" rtlCol="0" anchor="ctr"/>
          <a:lstStyle/>
          <a:p>
            <a:pPr marL="0" indent="0">
              <a:buNone/>
            </a:pPr>
            <a:r>
              <a:rPr lang="en-US" sz="1600" dirty="0">
                <a:solidFill>
                  <a:srgbClr val="0D9488"/>
                </a:solidFill>
                <a:latin typeface="Calibri" pitchFamily="34" charset="0"/>
                <a:ea typeface="Calibri" pitchFamily="34" charset="-122"/>
                <a:cs typeface="Calibri" pitchFamily="34" charset="-120"/>
              </a:rPr>
              <a:t>The Country Name Problem</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029200" cy="2011680"/>
        </p:xfrm>
        <a:graphic>
          <a:graphicData uri="http://schemas.openxmlformats.org/drawingml/2006/table">
            <a:tbl>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40233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Dataset</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'South Africa' appears</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0000"/>
                  </a:ext>
                </a:extLst>
              </a:tr>
              <a:tr h="402336">
                <a:tc>
                  <a:txBody>
                    <a:bodyPr/>
                    <a:lstStyle/>
                    <a:p>
                      <a:pPr marL="0" indent="0">
                        <a:buNone/>
                      </a:pPr>
                      <a:r>
                        <a:rPr lang="en-US" sz="1200" dirty="0">
                          <a:solidFill>
                            <a:srgbClr val="FFFFFF"/>
                          </a:solidFill>
                          <a:latin typeface="Calibri" pitchFamily="34" charset="0"/>
                          <a:ea typeface="Calibri" pitchFamily="34" charset="-122"/>
                          <a:cs typeface="Calibri" pitchFamily="34" charset="-120"/>
                        </a:rPr>
                        <a:t>UN Urbanisation</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A2535"/>
                    </a:solidFill>
                  </a:tcPr>
                </a:tc>
                <a:tc>
                  <a:txBody>
                    <a:bodyPr/>
                    <a:lstStyle/>
                    <a:p>
                      <a:pPr marL="0" indent="0">
                        <a:buNone/>
                      </a:pPr>
                      <a:r>
                        <a:rPr lang="en-US" sz="1200" dirty="0">
                          <a:solidFill>
                            <a:srgbClr val="14B8A6"/>
                          </a:solidFill>
                          <a:latin typeface="Calibri" pitchFamily="34" charset="0"/>
                          <a:ea typeface="Calibri" pitchFamily="34" charset="-122"/>
                          <a:cs typeface="Calibri" pitchFamily="34" charset="-120"/>
                        </a:rPr>
                        <a:t>South Africa</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A2535"/>
                    </a:solidFill>
                  </a:tcPr>
                </a:tc>
                <a:extLst>
                  <a:ext uri="{0D108BD9-81ED-4DB2-BD59-A6C34878D82A}">
                    <a16:rowId xmlns:a16="http://schemas.microsoft.com/office/drawing/2014/main" val="10001"/>
                  </a:ext>
                </a:extLst>
              </a:tr>
              <a:tr h="402336">
                <a:tc>
                  <a:txBody>
                    <a:bodyPr/>
                    <a:lstStyle/>
                    <a:p>
                      <a:pPr marL="0" indent="0">
                        <a:buNone/>
                      </a:pPr>
                      <a:r>
                        <a:rPr lang="en-US" sz="1200" dirty="0">
                          <a:solidFill>
                            <a:srgbClr val="FFFFFF"/>
                          </a:solidFill>
                          <a:latin typeface="Calibri" pitchFamily="34" charset="0"/>
                          <a:ea typeface="Calibri" pitchFamily="34" charset="-122"/>
                          <a:cs typeface="Calibri" pitchFamily="34" charset="-120"/>
                        </a:rPr>
                        <a:t>WID Income</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marL="0" indent="0">
                        <a:buNone/>
                      </a:pPr>
                      <a:r>
                        <a:rPr lang="en-US" sz="1200" dirty="0">
                          <a:solidFill>
                            <a:srgbClr val="F59E0B"/>
                          </a:solidFill>
                          <a:latin typeface="Calibri" pitchFamily="34" charset="0"/>
                          <a:ea typeface="Calibri" pitchFamily="34" charset="-122"/>
                          <a:cs typeface="Calibri" pitchFamily="34" charset="-120"/>
                        </a:rPr>
                        <a:t>ZA</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0002"/>
                  </a:ext>
                </a:extLst>
              </a:tr>
              <a:tr h="402336">
                <a:tc>
                  <a:txBody>
                    <a:bodyPr/>
                    <a:lstStyle/>
                    <a:p>
                      <a:pPr marL="0" indent="0">
                        <a:buNone/>
                      </a:pPr>
                      <a:r>
                        <a:rPr lang="en-US" sz="1200" dirty="0">
                          <a:solidFill>
                            <a:srgbClr val="FFFFFF"/>
                          </a:solidFill>
                          <a:latin typeface="Calibri" pitchFamily="34" charset="0"/>
                          <a:ea typeface="Calibri" pitchFamily="34" charset="-122"/>
                          <a:cs typeface="Calibri" pitchFamily="34" charset="-120"/>
                        </a:rPr>
                        <a:t>Countries &amp; Continents</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A2535"/>
                    </a:solidFill>
                  </a:tcPr>
                </a:tc>
                <a:tc>
                  <a:txBody>
                    <a:bodyPr/>
                    <a:lstStyle/>
                    <a:p>
                      <a:pPr marL="0" indent="0">
                        <a:buNone/>
                      </a:pPr>
                      <a:r>
                        <a:rPr lang="en-US" sz="1200" dirty="0">
                          <a:solidFill>
                            <a:srgbClr val="14B8A6"/>
                          </a:solidFill>
                          <a:latin typeface="Calibri" pitchFamily="34" charset="0"/>
                          <a:ea typeface="Calibri" pitchFamily="34" charset="-122"/>
                          <a:cs typeface="Calibri" pitchFamily="34" charset="-120"/>
                        </a:rPr>
                        <a:t>South Africa</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A2535"/>
                    </a:solidFill>
                  </a:tcPr>
                </a:tc>
                <a:extLst>
                  <a:ext uri="{0D108BD9-81ED-4DB2-BD59-A6C34878D82A}">
                    <a16:rowId xmlns:a16="http://schemas.microsoft.com/office/drawing/2014/main" val="10003"/>
                  </a:ext>
                </a:extLst>
              </a:tr>
              <a:tr h="402336">
                <a:tc>
                  <a:txBody>
                    <a:bodyPr/>
                    <a:lstStyle/>
                    <a:p>
                      <a:pPr marL="0" indent="0">
                        <a:buNone/>
                      </a:pPr>
                      <a:r>
                        <a:rPr lang="en-US" sz="1200" dirty="0">
                          <a:solidFill>
                            <a:srgbClr val="FFFFFF"/>
                          </a:solidFill>
                          <a:latin typeface="Calibri" pitchFamily="34" charset="0"/>
                          <a:ea typeface="Calibri" pitchFamily="34" charset="-122"/>
                          <a:cs typeface="Calibri" pitchFamily="34" charset="-120"/>
                        </a:rPr>
                        <a:t>OWID WHO Regions</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tc>
                  <a:txBody>
                    <a:bodyPr/>
                    <a:lstStyle/>
                    <a:p>
                      <a:pPr marL="0" indent="0">
                        <a:buNone/>
                      </a:pPr>
                      <a:r>
                        <a:rPr lang="en-US" sz="1200" dirty="0">
                          <a:solidFill>
                            <a:srgbClr val="F59E0B"/>
                          </a:solidFill>
                          <a:latin typeface="Calibri" pitchFamily="34" charset="0"/>
                          <a:ea typeface="Calibri" pitchFamily="34" charset="-122"/>
                          <a:cs typeface="Calibri" pitchFamily="34" charset="-120"/>
                        </a:rPr>
                        <a:t>South Africa  /  ZAF</a:t>
                      </a:r>
                      <a:endParaRPr lang="en-US" sz="1200" dirty="0">
                        <a:latin typeface="Calibri" charset="0"/>
                        <a:ea typeface="Calibri" charset="0"/>
                        <a:cs typeface="Calibri" charset="0"/>
                      </a:endParaRPr>
                    </a:p>
                  </a:txBody>
                  <a:tcPr>
                    <a:lnL w="12700" cap="flat" cmpd="sng" algn="ctr">
                      <a:solidFill>
                        <a:srgbClr val="334155"/>
                      </a:solidFill>
                      <a:prstDash val="solid"/>
                      <a:round/>
                      <a:headEnd type="none" w="med" len="med"/>
                      <a:tailEnd type="none" w="med" len="med"/>
                    </a:lnL>
                    <a:lnR w="12700" cap="flat" cmpd="sng" algn="ctr">
                      <a:solidFill>
                        <a:srgbClr val="334155"/>
                      </a:solidFill>
                      <a:prstDash val="solid"/>
                      <a:round/>
                      <a:headEnd type="none" w="med" len="med"/>
                      <a:tailEnd type="none" w="med" len="med"/>
                    </a:lnR>
                    <a:lnT w="12700" cap="flat" cmpd="sng" algn="ctr">
                      <a:solidFill>
                        <a:srgbClr val="334155"/>
                      </a:solidFill>
                      <a:prstDash val="solid"/>
                      <a:round/>
                      <a:headEnd type="none" w="med" len="med"/>
                      <a:tailEnd type="none" w="med" len="med"/>
                    </a:lnT>
                    <a:lnB w="12700"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0004"/>
                  </a:ext>
                </a:extLst>
              </a:tr>
            </a:tbl>
          </a:graphicData>
        </a:graphic>
      </p:graphicFrame>
      <p:sp>
        <p:nvSpPr>
          <p:cNvPr id="5" name="Shape 3"/>
          <p:cNvSpPr/>
          <p:nvPr/>
        </p:nvSpPr>
        <p:spPr>
          <a:xfrm>
            <a:off x="5760720" y="1188720"/>
            <a:ext cx="2926080" cy="2011680"/>
          </a:xfrm>
          <a:prstGeom prst="rect">
            <a:avLst/>
          </a:prstGeom>
          <a:solidFill>
            <a:srgbClr val="1E293B"/>
          </a:solidFill>
          <a:ln w="12700">
            <a:solidFill>
              <a:srgbClr val="0D9488"/>
            </a:solidFill>
            <a:prstDash val="solid"/>
          </a:ln>
          <a:effectLst>
            <a:outerShdw blurRad="101600" dist="38100" dir="8100000" algn="bl" rotWithShape="0">
              <a:srgbClr val="000000">
                <a:alpha val="18000"/>
              </a:srgbClr>
            </a:outerShdw>
          </a:effectLst>
        </p:spPr>
        <p:txBody>
          <a:bodyPr/>
          <a:lstStyle/>
          <a:p>
            <a:endParaRPr lang="en-US"/>
          </a:p>
        </p:txBody>
      </p:sp>
      <p:sp>
        <p:nvSpPr>
          <p:cNvPr id="7" name="Text 4"/>
          <p:cNvSpPr/>
          <p:nvPr/>
        </p:nvSpPr>
        <p:spPr>
          <a:xfrm>
            <a:off x="5852160" y="1261872"/>
            <a:ext cx="2743200" cy="365760"/>
          </a:xfrm>
          <a:prstGeom prst="rect">
            <a:avLst/>
          </a:prstGeom>
          <a:noFill/>
          <a:ln/>
        </p:spPr>
        <p:txBody>
          <a:bodyPr wrap="square" lIns="0" tIns="0" rIns="0" bIns="0" rtlCol="0" anchor="ctr"/>
          <a:lstStyle/>
          <a:p>
            <a:pPr marL="0" indent="0">
              <a:buNone/>
            </a:pPr>
            <a:r>
              <a:rPr lang="en-US" sz="1400" b="1" dirty="0">
                <a:solidFill>
                  <a:srgbClr val="0D9488"/>
                </a:solidFill>
                <a:latin typeface="Georgia" pitchFamily="34" charset="0"/>
                <a:ea typeface="Georgia" pitchFamily="34" charset="-122"/>
                <a:cs typeface="Georgia" pitchFamily="34" charset="-120"/>
              </a:rPr>
              <a:t>✅  Solution</a:t>
            </a:r>
            <a:endParaRPr lang="en-US" sz="1400" dirty="0"/>
          </a:p>
        </p:txBody>
      </p:sp>
      <p:sp>
        <p:nvSpPr>
          <p:cNvPr id="8" name="Text 5"/>
          <p:cNvSpPr/>
          <p:nvPr/>
        </p:nvSpPr>
        <p:spPr>
          <a:xfrm>
            <a:off x="5852160" y="1691640"/>
            <a:ext cx="2743200" cy="1417320"/>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Country Dimension Table</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 </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 233 countries standardised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 Single source of truth</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 Continent + WHO region</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 Manual fixes applied</a:t>
            </a:r>
            <a:endParaRPr lang="en-US" sz="1100" dirty="0"/>
          </a:p>
        </p:txBody>
      </p:sp>
      <p:sp>
        <p:nvSpPr>
          <p:cNvPr id="9" name="Shape 6"/>
          <p:cNvSpPr/>
          <p:nvPr/>
        </p:nvSpPr>
        <p:spPr>
          <a:xfrm>
            <a:off x="457200" y="3337560"/>
            <a:ext cx="8229600" cy="1417320"/>
          </a:xfrm>
          <a:prstGeom prst="rect">
            <a:avLst/>
          </a:prstGeom>
          <a:solidFill>
            <a:srgbClr val="1E293B"/>
          </a:solidFill>
          <a:ln w="12700">
            <a:solidFill>
              <a:srgbClr val="94A3B8"/>
            </a:solidFill>
            <a:prstDash val="solid"/>
          </a:ln>
        </p:spPr>
        <p:txBody>
          <a:bodyPr/>
          <a:lstStyle/>
          <a:p>
            <a:endParaRPr lang="en-US"/>
          </a:p>
        </p:txBody>
      </p:sp>
      <p:sp>
        <p:nvSpPr>
          <p:cNvPr id="10" name="Text 7"/>
          <p:cNvSpPr/>
          <p:nvPr/>
        </p:nvSpPr>
        <p:spPr>
          <a:xfrm>
            <a:off x="640080" y="3410712"/>
            <a:ext cx="3657600" cy="320040"/>
          </a:xfrm>
          <a:prstGeom prst="rect">
            <a:avLst/>
          </a:prstGeom>
          <a:noFill/>
          <a:ln/>
        </p:spPr>
        <p:txBody>
          <a:bodyPr wrap="square" lIns="0" tIns="0" rIns="0" bIns="0" rtlCol="0" anchor="ctr"/>
          <a:lstStyle/>
          <a:p>
            <a:pPr marL="0" indent="0">
              <a:buNone/>
            </a:pPr>
            <a:r>
              <a:rPr lang="en-US" sz="1200" b="1" dirty="0">
                <a:solidFill>
                  <a:srgbClr val="0D9488"/>
                </a:solidFill>
                <a:latin typeface="Calibri" pitchFamily="34" charset="0"/>
                <a:ea typeface="Calibri" pitchFamily="34" charset="-122"/>
                <a:cs typeface="Calibri" pitchFamily="34" charset="-120"/>
              </a:rPr>
              <a:t>Country Name Fixes Applied:</a:t>
            </a:r>
            <a:endParaRPr lang="en-US" sz="1200" dirty="0"/>
          </a:p>
        </p:txBody>
      </p:sp>
      <p:sp>
        <p:nvSpPr>
          <p:cNvPr id="11" name="Text 8"/>
          <p:cNvSpPr/>
          <p:nvPr/>
        </p:nvSpPr>
        <p:spPr>
          <a:xfrm>
            <a:off x="640080" y="3749040"/>
            <a:ext cx="3931920" cy="347472"/>
          </a:xfrm>
          <a:prstGeom prst="rect">
            <a:avLst/>
          </a:prstGeom>
          <a:noFill/>
          <a:ln/>
        </p:spPr>
        <p:txBody>
          <a:bodyPr wrap="square" lIns="0" tIns="0" rIns="0" bIns="0" rtlCol="0" anchor="ctr"/>
          <a:lstStyle/>
          <a:p>
            <a:pPr marL="0" indent="0">
              <a:buNone/>
            </a:pPr>
            <a:r>
              <a:rPr lang="en-US" sz="1100" dirty="0">
                <a:solidFill>
                  <a:srgbClr val="F1F5F9"/>
                </a:solidFill>
                <a:latin typeface="Calibri" pitchFamily="34" charset="0"/>
                <a:ea typeface="Calibri" pitchFamily="34" charset="-122"/>
                <a:cs typeface="Calibri" pitchFamily="34" charset="-120"/>
              </a:rPr>
              <a:t>• Swaziland → Eswatini</a:t>
            </a:r>
            <a:endParaRPr lang="en-US" sz="1100" dirty="0"/>
          </a:p>
        </p:txBody>
      </p:sp>
      <p:sp>
        <p:nvSpPr>
          <p:cNvPr id="12" name="Text 9"/>
          <p:cNvSpPr/>
          <p:nvPr/>
        </p:nvSpPr>
        <p:spPr>
          <a:xfrm>
            <a:off x="4754880" y="3749040"/>
            <a:ext cx="3931920" cy="347472"/>
          </a:xfrm>
          <a:prstGeom prst="rect">
            <a:avLst/>
          </a:prstGeom>
          <a:noFill/>
          <a:ln/>
        </p:spPr>
        <p:txBody>
          <a:bodyPr wrap="square" lIns="0" tIns="0" rIns="0" bIns="0" rtlCol="0" anchor="ctr"/>
          <a:lstStyle/>
          <a:p>
            <a:pPr marL="0" indent="0">
              <a:buNone/>
            </a:pPr>
            <a:r>
              <a:rPr lang="en-US" sz="1100" dirty="0">
                <a:solidFill>
                  <a:srgbClr val="F1F5F9"/>
                </a:solidFill>
                <a:latin typeface="Calibri" pitchFamily="34" charset="0"/>
                <a:ea typeface="Calibri" pitchFamily="34" charset="-122"/>
                <a:cs typeface="Calibri" pitchFamily="34" charset="-120"/>
              </a:rPr>
              <a:t>• Macedonia → North Macedonia</a:t>
            </a:r>
            <a:endParaRPr lang="en-US" sz="1100" dirty="0"/>
          </a:p>
        </p:txBody>
      </p:sp>
      <p:sp>
        <p:nvSpPr>
          <p:cNvPr id="13" name="Text 10"/>
          <p:cNvSpPr/>
          <p:nvPr/>
        </p:nvSpPr>
        <p:spPr>
          <a:xfrm>
            <a:off x="640080" y="4133088"/>
            <a:ext cx="3931920" cy="347472"/>
          </a:xfrm>
          <a:prstGeom prst="rect">
            <a:avLst/>
          </a:prstGeom>
          <a:noFill/>
          <a:ln/>
        </p:spPr>
        <p:txBody>
          <a:bodyPr wrap="square" lIns="0" tIns="0" rIns="0" bIns="0" rtlCol="0" anchor="ctr"/>
          <a:lstStyle/>
          <a:p>
            <a:pPr marL="0" indent="0">
              <a:buNone/>
            </a:pPr>
            <a:r>
              <a:rPr lang="en-US" sz="1100" dirty="0">
                <a:solidFill>
                  <a:srgbClr val="F1F5F9"/>
                </a:solidFill>
                <a:latin typeface="Calibri" pitchFamily="34" charset="0"/>
                <a:ea typeface="Calibri" pitchFamily="34" charset="-122"/>
                <a:cs typeface="Calibri" pitchFamily="34" charset="-120"/>
              </a:rPr>
              <a:t>• Czech Republic → Czechia</a:t>
            </a:r>
            <a:endParaRPr lang="en-US" sz="1100" dirty="0"/>
          </a:p>
        </p:txBody>
      </p:sp>
      <p:sp>
        <p:nvSpPr>
          <p:cNvPr id="14" name="Text 11"/>
          <p:cNvSpPr/>
          <p:nvPr/>
        </p:nvSpPr>
        <p:spPr>
          <a:xfrm>
            <a:off x="4754880" y="4133088"/>
            <a:ext cx="3931920" cy="347472"/>
          </a:xfrm>
          <a:prstGeom prst="rect">
            <a:avLst/>
          </a:prstGeom>
          <a:noFill/>
          <a:ln/>
        </p:spPr>
        <p:txBody>
          <a:bodyPr wrap="square" lIns="0" tIns="0" rIns="0" bIns="0" rtlCol="0" anchor="ctr"/>
          <a:lstStyle/>
          <a:p>
            <a:pPr marL="0" indent="0">
              <a:buNone/>
            </a:pPr>
            <a:r>
              <a:rPr lang="en-US" sz="1100" dirty="0">
                <a:solidFill>
                  <a:srgbClr val="F1F5F9"/>
                </a:solidFill>
                <a:latin typeface="Calibri" pitchFamily="34" charset="0"/>
                <a:ea typeface="Calibri" pitchFamily="34" charset="-122"/>
                <a:cs typeface="Calibri" pitchFamily="34" charset="-120"/>
              </a:rPr>
              <a:t>• 38 regional aggregates removed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182880"/>
            <a:ext cx="8229600" cy="548640"/>
          </a:xfrm>
          <a:prstGeom prst="rect">
            <a:avLst/>
          </a:prstGeom>
          <a:noFill/>
          <a:ln/>
        </p:spPr>
        <p:txBody>
          <a:bodyPr wrap="square" lIns="0" tIns="0" rIns="0" bIns="0" rtlCol="0" anchor="ctr"/>
          <a:lstStyle/>
          <a:p>
            <a:pPr marL="0" indent="0">
              <a:buNone/>
            </a:pPr>
            <a:r>
              <a:rPr lang="en-US" sz="3600" b="1" dirty="0">
                <a:solidFill>
                  <a:srgbClr val="0D1B2A"/>
                </a:solidFill>
                <a:latin typeface="Georgia" pitchFamily="34" charset="0"/>
                <a:ea typeface="Georgia" pitchFamily="34" charset="-122"/>
                <a:cs typeface="Georgia" pitchFamily="34" charset="-120"/>
              </a:rPr>
              <a:t>Pipeline Results</a:t>
            </a:r>
            <a:endParaRPr lang="en-US" sz="3600" dirty="0"/>
          </a:p>
        </p:txBody>
      </p:sp>
      <p:sp>
        <p:nvSpPr>
          <p:cNvPr id="4" name="Shape 2"/>
          <p:cNvSpPr/>
          <p:nvPr/>
        </p:nvSpPr>
        <p:spPr>
          <a:xfrm>
            <a:off x="365760" y="914400"/>
            <a:ext cx="2651760" cy="347472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5" name="Shape 3"/>
          <p:cNvSpPr/>
          <p:nvPr/>
        </p:nvSpPr>
        <p:spPr>
          <a:xfrm>
            <a:off x="365760" y="914400"/>
            <a:ext cx="2651760" cy="457200"/>
          </a:xfrm>
          <a:prstGeom prst="rect">
            <a:avLst/>
          </a:prstGeom>
          <a:solidFill>
            <a:srgbClr val="B45309"/>
          </a:solidFill>
          <a:ln w="12700">
            <a:solidFill>
              <a:srgbClr val="B45309"/>
            </a:solidFill>
            <a:prstDash val="solid"/>
          </a:ln>
        </p:spPr>
        <p:txBody>
          <a:bodyPr/>
          <a:lstStyle/>
          <a:p>
            <a:endParaRPr lang="en-US"/>
          </a:p>
        </p:txBody>
      </p:sp>
      <p:sp>
        <p:nvSpPr>
          <p:cNvPr id="6" name="Text 4"/>
          <p:cNvSpPr/>
          <p:nvPr/>
        </p:nvSpPr>
        <p:spPr>
          <a:xfrm>
            <a:off x="411480" y="932688"/>
            <a:ext cx="256032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BRONZE LAYER</a:t>
            </a:r>
            <a:endParaRPr lang="en-US" sz="1200" dirty="0"/>
          </a:p>
        </p:txBody>
      </p:sp>
      <p:sp>
        <p:nvSpPr>
          <p:cNvPr id="7" name="Text 5"/>
          <p:cNvSpPr/>
          <p:nvPr/>
        </p:nvSpPr>
        <p:spPr>
          <a:xfrm>
            <a:off x="411480" y="1444752"/>
            <a:ext cx="2560320" cy="411480"/>
          </a:xfrm>
          <a:prstGeom prst="rect">
            <a:avLst/>
          </a:prstGeom>
          <a:noFill/>
          <a:ln/>
        </p:spPr>
        <p:txBody>
          <a:bodyPr wrap="square" lIns="0" tIns="0" rIns="0" bIns="0" rtlCol="0" anchor="ctr"/>
          <a:lstStyle/>
          <a:p>
            <a:pPr marL="0" indent="0" algn="ctr">
              <a:buNone/>
            </a:pPr>
            <a:r>
              <a:rPr lang="en-US" sz="2200" b="1" dirty="0">
                <a:solidFill>
                  <a:srgbClr val="B45309"/>
                </a:solidFill>
                <a:latin typeface="Georgia" pitchFamily="34" charset="0"/>
                <a:ea typeface="Georgia" pitchFamily="34" charset="-122"/>
                <a:cs typeface="Georgia" pitchFamily="34" charset="-120"/>
              </a:rPr>
              <a:t>4 Tables</a:t>
            </a:r>
            <a:endParaRPr lang="en-US" sz="2200" dirty="0"/>
          </a:p>
        </p:txBody>
      </p:sp>
      <p:sp>
        <p:nvSpPr>
          <p:cNvPr id="8" name="Text 6"/>
          <p:cNvSpPr/>
          <p:nvPr/>
        </p:nvSpPr>
        <p:spPr>
          <a:xfrm>
            <a:off x="502920" y="1965960"/>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bronze_urbanisation  27,573 rows</a:t>
            </a:r>
            <a:endParaRPr lang="en-US" sz="1000" dirty="0"/>
          </a:p>
        </p:txBody>
      </p:sp>
      <p:sp>
        <p:nvSpPr>
          <p:cNvPr id="9" name="Text 7"/>
          <p:cNvSpPr/>
          <p:nvPr/>
        </p:nvSpPr>
        <p:spPr>
          <a:xfrm>
            <a:off x="502920" y="2441448"/>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bronze_wid_income  7,078 rows</a:t>
            </a:r>
            <a:endParaRPr lang="en-US" sz="1000" dirty="0"/>
          </a:p>
        </p:txBody>
      </p:sp>
      <p:sp>
        <p:nvSpPr>
          <p:cNvPr id="10" name="Text 8"/>
          <p:cNvSpPr/>
          <p:nvPr/>
        </p:nvSpPr>
        <p:spPr>
          <a:xfrm>
            <a:off x="502920" y="2916936"/>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bronze_continents  285 rows</a:t>
            </a:r>
            <a:endParaRPr lang="en-US" sz="1000" dirty="0"/>
          </a:p>
        </p:txBody>
      </p:sp>
      <p:sp>
        <p:nvSpPr>
          <p:cNvPr id="11" name="Text 9"/>
          <p:cNvSpPr/>
          <p:nvPr/>
        </p:nvSpPr>
        <p:spPr>
          <a:xfrm>
            <a:off x="502920" y="3392424"/>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bronze_who_regions  194 rows</a:t>
            </a:r>
            <a:endParaRPr lang="en-US" sz="1000" dirty="0"/>
          </a:p>
        </p:txBody>
      </p:sp>
      <p:sp>
        <p:nvSpPr>
          <p:cNvPr id="12" name="Shape 10"/>
          <p:cNvSpPr/>
          <p:nvPr/>
        </p:nvSpPr>
        <p:spPr>
          <a:xfrm>
            <a:off x="3200400" y="914400"/>
            <a:ext cx="2651760" cy="347472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3" name="Shape 11"/>
          <p:cNvSpPr/>
          <p:nvPr/>
        </p:nvSpPr>
        <p:spPr>
          <a:xfrm>
            <a:off x="3200400" y="914400"/>
            <a:ext cx="2651760" cy="457200"/>
          </a:xfrm>
          <a:prstGeom prst="rect">
            <a:avLst/>
          </a:prstGeom>
          <a:solidFill>
            <a:srgbClr val="64748B"/>
          </a:solidFill>
          <a:ln w="12700">
            <a:solidFill>
              <a:srgbClr val="64748B"/>
            </a:solidFill>
            <a:prstDash val="solid"/>
          </a:ln>
        </p:spPr>
        <p:txBody>
          <a:bodyPr/>
          <a:lstStyle/>
          <a:p>
            <a:endParaRPr lang="en-US"/>
          </a:p>
        </p:txBody>
      </p:sp>
      <p:sp>
        <p:nvSpPr>
          <p:cNvPr id="14" name="Text 12"/>
          <p:cNvSpPr/>
          <p:nvPr/>
        </p:nvSpPr>
        <p:spPr>
          <a:xfrm>
            <a:off x="3246120" y="932688"/>
            <a:ext cx="256032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SILVER LAYER</a:t>
            </a:r>
            <a:endParaRPr lang="en-US" sz="1200" dirty="0"/>
          </a:p>
        </p:txBody>
      </p:sp>
      <p:sp>
        <p:nvSpPr>
          <p:cNvPr id="15" name="Text 13"/>
          <p:cNvSpPr/>
          <p:nvPr/>
        </p:nvSpPr>
        <p:spPr>
          <a:xfrm>
            <a:off x="3246120" y="1444752"/>
            <a:ext cx="2560320" cy="411480"/>
          </a:xfrm>
          <a:prstGeom prst="rect">
            <a:avLst/>
          </a:prstGeom>
          <a:noFill/>
          <a:ln/>
        </p:spPr>
        <p:txBody>
          <a:bodyPr wrap="square" lIns="0" tIns="0" rIns="0" bIns="0" rtlCol="0" anchor="ctr"/>
          <a:lstStyle/>
          <a:p>
            <a:pPr marL="0" indent="0" algn="ctr">
              <a:buNone/>
            </a:pPr>
            <a:r>
              <a:rPr lang="en-US" sz="2200" b="1" dirty="0">
                <a:solidFill>
                  <a:srgbClr val="64748B"/>
                </a:solidFill>
                <a:latin typeface="Georgia" pitchFamily="34" charset="0"/>
                <a:ea typeface="Georgia" pitchFamily="34" charset="-122"/>
                <a:cs typeface="Georgia" pitchFamily="34" charset="-120"/>
              </a:rPr>
              <a:t>1 Table</a:t>
            </a:r>
            <a:endParaRPr lang="en-US" sz="2200" dirty="0"/>
          </a:p>
        </p:txBody>
      </p:sp>
      <p:sp>
        <p:nvSpPr>
          <p:cNvPr id="16" name="Text 14"/>
          <p:cNvSpPr/>
          <p:nvPr/>
        </p:nvSpPr>
        <p:spPr>
          <a:xfrm>
            <a:off x="3337560" y="1965960"/>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silver_urbanisation  23,735 rows</a:t>
            </a:r>
            <a:endParaRPr lang="en-US" sz="1000" dirty="0"/>
          </a:p>
        </p:txBody>
      </p:sp>
      <p:sp>
        <p:nvSpPr>
          <p:cNvPr id="17" name="Text 15"/>
          <p:cNvSpPr/>
          <p:nvPr/>
        </p:nvSpPr>
        <p:spPr>
          <a:xfrm>
            <a:off x="3337560" y="2441448"/>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233 countries mapped</a:t>
            </a:r>
            <a:endParaRPr lang="en-US" sz="1000" dirty="0"/>
          </a:p>
        </p:txBody>
      </p:sp>
      <p:sp>
        <p:nvSpPr>
          <p:cNvPr id="18" name="Text 16"/>
          <p:cNvSpPr/>
          <p:nvPr/>
        </p:nvSpPr>
        <p:spPr>
          <a:xfrm>
            <a:off x="3337560" y="2916936"/>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1950 – 2050 coverage</a:t>
            </a:r>
            <a:endParaRPr lang="en-US" sz="1000" dirty="0"/>
          </a:p>
        </p:txBody>
      </p:sp>
      <p:sp>
        <p:nvSpPr>
          <p:cNvPr id="19" name="Text 17"/>
          <p:cNvSpPr/>
          <p:nvPr/>
        </p:nvSpPr>
        <p:spPr>
          <a:xfrm>
            <a:off x="3337560" y="3392424"/>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Historical + Projected</a:t>
            </a:r>
            <a:endParaRPr lang="en-US" sz="1000" dirty="0"/>
          </a:p>
        </p:txBody>
      </p:sp>
      <p:sp>
        <p:nvSpPr>
          <p:cNvPr id="20" name="Shape 18"/>
          <p:cNvSpPr/>
          <p:nvPr/>
        </p:nvSpPr>
        <p:spPr>
          <a:xfrm>
            <a:off x="6035040" y="914400"/>
            <a:ext cx="2651760" cy="347472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1" name="Shape 19"/>
          <p:cNvSpPr/>
          <p:nvPr/>
        </p:nvSpPr>
        <p:spPr>
          <a:xfrm>
            <a:off x="6035040" y="914400"/>
            <a:ext cx="2651760" cy="457200"/>
          </a:xfrm>
          <a:prstGeom prst="rect">
            <a:avLst/>
          </a:prstGeom>
          <a:solidFill>
            <a:srgbClr val="D97706"/>
          </a:solidFill>
          <a:ln w="12700">
            <a:solidFill>
              <a:srgbClr val="D97706"/>
            </a:solidFill>
            <a:prstDash val="solid"/>
          </a:ln>
        </p:spPr>
        <p:txBody>
          <a:bodyPr/>
          <a:lstStyle/>
          <a:p>
            <a:endParaRPr lang="en-US"/>
          </a:p>
        </p:txBody>
      </p:sp>
      <p:sp>
        <p:nvSpPr>
          <p:cNvPr id="22" name="Text 20"/>
          <p:cNvSpPr/>
          <p:nvPr/>
        </p:nvSpPr>
        <p:spPr>
          <a:xfrm>
            <a:off x="6080760" y="932688"/>
            <a:ext cx="256032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GOLD LAYER</a:t>
            </a:r>
            <a:endParaRPr lang="en-US" sz="1200" dirty="0"/>
          </a:p>
        </p:txBody>
      </p:sp>
      <p:sp>
        <p:nvSpPr>
          <p:cNvPr id="23" name="Text 21"/>
          <p:cNvSpPr/>
          <p:nvPr/>
        </p:nvSpPr>
        <p:spPr>
          <a:xfrm>
            <a:off x="6080760" y="1444752"/>
            <a:ext cx="2560320" cy="411480"/>
          </a:xfrm>
          <a:prstGeom prst="rect">
            <a:avLst/>
          </a:prstGeom>
          <a:noFill/>
          <a:ln/>
        </p:spPr>
        <p:txBody>
          <a:bodyPr wrap="square" lIns="0" tIns="0" rIns="0" bIns="0" rtlCol="0" anchor="ctr"/>
          <a:lstStyle/>
          <a:p>
            <a:pPr marL="0" indent="0" algn="ctr">
              <a:buNone/>
            </a:pPr>
            <a:r>
              <a:rPr lang="en-US" sz="2200" b="1" dirty="0">
                <a:solidFill>
                  <a:srgbClr val="D97706"/>
                </a:solidFill>
                <a:latin typeface="Georgia" pitchFamily="34" charset="0"/>
                <a:ea typeface="Georgia" pitchFamily="34" charset="-122"/>
                <a:cs typeface="Georgia" pitchFamily="34" charset="-120"/>
              </a:rPr>
              <a:t>4 Tables</a:t>
            </a:r>
            <a:endParaRPr lang="en-US" sz="2200" dirty="0"/>
          </a:p>
        </p:txBody>
      </p:sp>
      <p:sp>
        <p:nvSpPr>
          <p:cNvPr id="24" name="Text 22"/>
          <p:cNvSpPr/>
          <p:nvPr/>
        </p:nvSpPr>
        <p:spPr>
          <a:xfrm>
            <a:off x="6172200" y="1965960"/>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gold_continent_trends  606 rows</a:t>
            </a:r>
            <a:endParaRPr lang="en-US" sz="1000" dirty="0"/>
          </a:p>
        </p:txBody>
      </p:sp>
      <p:sp>
        <p:nvSpPr>
          <p:cNvPr id="25" name="Text 23"/>
          <p:cNvSpPr/>
          <p:nvPr/>
        </p:nvSpPr>
        <p:spPr>
          <a:xfrm>
            <a:off x="6172200" y="2441448"/>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gold_growth_rates  15,824 rows</a:t>
            </a:r>
            <a:endParaRPr lang="en-US" sz="1000" dirty="0"/>
          </a:p>
        </p:txBody>
      </p:sp>
      <p:sp>
        <p:nvSpPr>
          <p:cNvPr id="26" name="Text 24"/>
          <p:cNvSpPr/>
          <p:nvPr/>
        </p:nvSpPr>
        <p:spPr>
          <a:xfrm>
            <a:off x="6172200" y="2916936"/>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gold_income_vs_urbanisation  4,158</a:t>
            </a:r>
            <a:endParaRPr lang="en-US" sz="1000" dirty="0"/>
          </a:p>
        </p:txBody>
      </p:sp>
      <p:sp>
        <p:nvSpPr>
          <p:cNvPr id="27" name="Text 25"/>
          <p:cNvSpPr/>
          <p:nvPr/>
        </p:nvSpPr>
        <p:spPr>
          <a:xfrm>
            <a:off x="6172200" y="3392424"/>
            <a:ext cx="2377440" cy="43891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 gold_market_opportunity  4,158</a:t>
            </a:r>
            <a:endParaRPr lang="en-US" sz="1000" dirty="0"/>
          </a:p>
        </p:txBody>
      </p:sp>
      <p:sp>
        <p:nvSpPr>
          <p:cNvPr id="28" name="Shape 26"/>
          <p:cNvSpPr/>
          <p:nvPr/>
        </p:nvSpPr>
        <p:spPr>
          <a:xfrm>
            <a:off x="365760" y="4526280"/>
            <a:ext cx="8412480" cy="384048"/>
          </a:xfrm>
          <a:prstGeom prst="rect">
            <a:avLst/>
          </a:prstGeom>
          <a:solidFill>
            <a:srgbClr val="0D1B2A"/>
          </a:solidFill>
          <a:ln w="12700">
            <a:solidFill>
              <a:srgbClr val="0D9488"/>
            </a:solidFill>
            <a:prstDash val="solid"/>
          </a:ln>
          <a:effectLst>
            <a:outerShdw blurRad="101600" dist="38100" dir="8100000" algn="bl" rotWithShape="0">
              <a:srgbClr val="000000">
                <a:alpha val="18000"/>
              </a:srgbClr>
            </a:outerShdw>
          </a:effectLst>
        </p:spPr>
        <p:txBody>
          <a:bodyPr/>
          <a:lstStyle/>
          <a:p>
            <a:endParaRPr lang="en-US"/>
          </a:p>
        </p:txBody>
      </p:sp>
      <p:sp>
        <p:nvSpPr>
          <p:cNvPr id="29" name="Text 27"/>
          <p:cNvSpPr/>
          <p:nvPr/>
        </p:nvSpPr>
        <p:spPr>
          <a:xfrm>
            <a:off x="502920" y="4553712"/>
            <a:ext cx="8229600" cy="329184"/>
          </a:xfrm>
          <a:prstGeom prst="rect">
            <a:avLst/>
          </a:prstGeom>
          <a:noFill/>
          <a:ln/>
        </p:spPr>
        <p:txBody>
          <a:bodyPr wrap="square" lIns="0" tIns="0" rIns="0" bIns="0" rtlCol="0" anchor="ctr"/>
          <a:lstStyle/>
          <a:p>
            <a:pPr marL="0" indent="0" algn="ctr">
              <a:buNone/>
            </a:pPr>
            <a:r>
              <a:rPr lang="en-US" sz="1100" dirty="0">
                <a:solidFill>
                  <a:srgbClr val="0D9488"/>
                </a:solidFill>
                <a:latin typeface="Calibri" pitchFamily="34" charset="0"/>
                <a:ea typeface="Calibri" pitchFamily="34" charset="-122"/>
                <a:cs typeface="Calibri" pitchFamily="34" charset="-120"/>
              </a:rPr>
              <a:t>✅  Data Quality Check:  PASS  —  All validations passing  •  235 countries  •  Zero duplicates  •  64% income coverage documented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182880"/>
            <a:ext cx="8229600" cy="548640"/>
          </a:xfrm>
          <a:prstGeom prst="rect">
            <a:avLst/>
          </a:prstGeom>
          <a:noFill/>
          <a:ln/>
        </p:spPr>
        <p:txBody>
          <a:bodyPr wrap="square" lIns="0" tIns="0" rIns="0" bIns="0"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Key Business Insights</a:t>
            </a:r>
            <a:endParaRPr lang="en-US" sz="3600" dirty="0"/>
          </a:p>
        </p:txBody>
      </p:sp>
      <p:sp>
        <p:nvSpPr>
          <p:cNvPr id="4" name="Shape 2"/>
          <p:cNvSpPr/>
          <p:nvPr/>
        </p:nvSpPr>
        <p:spPr>
          <a:xfrm>
            <a:off x="365760" y="914400"/>
            <a:ext cx="8412480" cy="1170432"/>
          </a:xfrm>
          <a:prstGeom prst="rect">
            <a:avLst/>
          </a:prstGeom>
          <a:solidFill>
            <a:srgbClr val="1E293B"/>
          </a:solidFill>
          <a:ln w="12700">
            <a:solidFill>
              <a:srgbClr val="0D9488"/>
            </a:solidFill>
            <a:prstDash val="solid"/>
          </a:ln>
          <a:effectLst>
            <a:outerShdw blurRad="101600" dist="38100" dir="8100000" algn="bl" rotWithShape="0">
              <a:srgbClr val="000000">
                <a:alpha val="18000"/>
              </a:srgbClr>
            </a:outerShdw>
          </a:effectLst>
        </p:spPr>
        <p:txBody>
          <a:bodyPr/>
          <a:lstStyle/>
          <a:p>
            <a:endParaRPr lang="en-US"/>
          </a:p>
        </p:txBody>
      </p:sp>
      <p:sp>
        <p:nvSpPr>
          <p:cNvPr id="5" name="Shape 3"/>
          <p:cNvSpPr/>
          <p:nvPr/>
        </p:nvSpPr>
        <p:spPr>
          <a:xfrm>
            <a:off x="365760" y="914400"/>
            <a:ext cx="73152" cy="1170432"/>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502920" y="960120"/>
            <a:ext cx="640080" cy="502920"/>
          </a:xfrm>
          <a:prstGeom prst="rect">
            <a:avLst/>
          </a:prstGeom>
          <a:noFill/>
          <a:ln/>
        </p:spPr>
        <p:txBody>
          <a:bodyPr wrap="square" lIns="0" tIns="0" rIns="0" bIns="0" rtlCol="0" anchor="ctr"/>
          <a:lstStyle/>
          <a:p>
            <a:pPr marL="0" indent="0">
              <a:buNone/>
            </a:pPr>
            <a:r>
              <a:rPr lang="en-US" sz="2800" b="1" dirty="0">
                <a:solidFill>
                  <a:srgbClr val="0D9488"/>
                </a:solidFill>
                <a:latin typeface="Georgia" pitchFamily="34" charset="0"/>
                <a:ea typeface="Georgia" pitchFamily="34" charset="-122"/>
                <a:cs typeface="Georgia" pitchFamily="34" charset="-120"/>
              </a:rPr>
              <a:t>01</a:t>
            </a:r>
            <a:endParaRPr lang="en-US" sz="2800" dirty="0"/>
          </a:p>
        </p:txBody>
      </p:sp>
      <p:sp>
        <p:nvSpPr>
          <p:cNvPr id="7" name="Text 5"/>
          <p:cNvSpPr/>
          <p:nvPr/>
        </p:nvSpPr>
        <p:spPr>
          <a:xfrm>
            <a:off x="1234440" y="987552"/>
            <a:ext cx="7406640" cy="347472"/>
          </a:xfrm>
          <a:prstGeom prst="rect">
            <a:avLst/>
          </a:prstGeom>
          <a:noFill/>
          <a:ln/>
        </p:spPr>
        <p:txBody>
          <a:bodyPr wrap="square" lIns="0" tIns="0" rIns="0" bIns="0" rtlCol="0" anchor="ctr"/>
          <a:lstStyle/>
          <a:p>
            <a:pPr marL="0" indent="0">
              <a:buNone/>
            </a:pPr>
            <a:r>
              <a:rPr lang="en-US" sz="1400" b="1" dirty="0">
                <a:solidFill>
                  <a:srgbClr val="FFFFFF"/>
                </a:solidFill>
                <a:latin typeface="Georgia" pitchFamily="34" charset="0"/>
                <a:ea typeface="Georgia" pitchFamily="34" charset="-122"/>
                <a:cs typeface="Georgia" pitchFamily="34" charset="-120"/>
              </a:rPr>
              <a:t>32 High Opportunity Markets Identified</a:t>
            </a:r>
            <a:endParaRPr lang="en-US" sz="1400" dirty="0"/>
          </a:p>
        </p:txBody>
      </p:sp>
      <p:sp>
        <p:nvSpPr>
          <p:cNvPr id="8" name="Text 6"/>
          <p:cNvSpPr/>
          <p:nvPr/>
        </p:nvSpPr>
        <p:spPr>
          <a:xfrm>
            <a:off x="1234440" y="1371600"/>
            <a:ext cx="7406640" cy="658368"/>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Our composite scoring model — combining urbanisation rate, mean income and population size — identified 32 countries that score in the top tier across all three dimensions. These are the markets the sales team should prioritise for product expansion.</a:t>
            </a:r>
            <a:endParaRPr lang="en-US" sz="1050" dirty="0"/>
          </a:p>
        </p:txBody>
      </p:sp>
      <p:sp>
        <p:nvSpPr>
          <p:cNvPr id="9" name="Shape 7"/>
          <p:cNvSpPr/>
          <p:nvPr/>
        </p:nvSpPr>
        <p:spPr>
          <a:xfrm>
            <a:off x="365760" y="2212848"/>
            <a:ext cx="8412480" cy="1170432"/>
          </a:xfrm>
          <a:prstGeom prst="rect">
            <a:avLst/>
          </a:prstGeom>
          <a:solidFill>
            <a:srgbClr val="1E293B"/>
          </a:solidFill>
          <a:ln w="12700">
            <a:solidFill>
              <a:srgbClr val="F59E0B"/>
            </a:solidFill>
            <a:prstDash val="solid"/>
          </a:ln>
          <a:effectLst>
            <a:outerShdw blurRad="101600" dist="38100" dir="8100000" algn="bl" rotWithShape="0">
              <a:srgbClr val="000000">
                <a:alpha val="18000"/>
              </a:srgbClr>
            </a:outerShdw>
          </a:effectLst>
        </p:spPr>
        <p:txBody>
          <a:bodyPr/>
          <a:lstStyle/>
          <a:p>
            <a:endParaRPr lang="en-US"/>
          </a:p>
        </p:txBody>
      </p:sp>
      <p:sp>
        <p:nvSpPr>
          <p:cNvPr id="10" name="Shape 8"/>
          <p:cNvSpPr/>
          <p:nvPr/>
        </p:nvSpPr>
        <p:spPr>
          <a:xfrm>
            <a:off x="365760" y="2212848"/>
            <a:ext cx="73152" cy="1170432"/>
          </a:xfrm>
          <a:prstGeom prst="rect">
            <a:avLst/>
          </a:prstGeom>
          <a:solidFill>
            <a:srgbClr val="F59E0B"/>
          </a:solidFill>
          <a:ln w="12700">
            <a:solidFill>
              <a:srgbClr val="F59E0B"/>
            </a:solidFill>
            <a:prstDash val="solid"/>
          </a:ln>
        </p:spPr>
        <p:txBody>
          <a:bodyPr/>
          <a:lstStyle/>
          <a:p>
            <a:endParaRPr lang="en-US"/>
          </a:p>
        </p:txBody>
      </p:sp>
      <p:sp>
        <p:nvSpPr>
          <p:cNvPr id="11" name="Text 9"/>
          <p:cNvSpPr/>
          <p:nvPr/>
        </p:nvSpPr>
        <p:spPr>
          <a:xfrm>
            <a:off x="502920" y="2258568"/>
            <a:ext cx="640080" cy="502920"/>
          </a:xfrm>
          <a:prstGeom prst="rect">
            <a:avLst/>
          </a:prstGeom>
          <a:noFill/>
          <a:ln/>
        </p:spPr>
        <p:txBody>
          <a:bodyPr wrap="square" lIns="0" tIns="0" rIns="0" bIns="0" rtlCol="0" anchor="ctr"/>
          <a:lstStyle/>
          <a:p>
            <a:pPr marL="0" indent="0">
              <a:buNone/>
            </a:pPr>
            <a:r>
              <a:rPr lang="en-US" sz="2800" b="1" dirty="0">
                <a:solidFill>
                  <a:srgbClr val="F59E0B"/>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1234440" y="2286000"/>
            <a:ext cx="7406640" cy="347472"/>
          </a:xfrm>
          <a:prstGeom prst="rect">
            <a:avLst/>
          </a:prstGeom>
          <a:noFill/>
          <a:ln/>
        </p:spPr>
        <p:txBody>
          <a:bodyPr wrap="square" lIns="0" tIns="0" rIns="0" bIns="0" rtlCol="0" anchor="ctr"/>
          <a:lstStyle/>
          <a:p>
            <a:pPr marL="0" indent="0">
              <a:buNone/>
            </a:pPr>
            <a:r>
              <a:rPr lang="en-US" sz="1400" b="1" dirty="0">
                <a:solidFill>
                  <a:srgbClr val="FFFFFF"/>
                </a:solidFill>
                <a:latin typeface="Georgia" pitchFamily="34" charset="0"/>
                <a:ea typeface="Georgia" pitchFamily="34" charset="-122"/>
                <a:cs typeface="Georgia" pitchFamily="34" charset="-120"/>
              </a:rPr>
              <a:t>Africa is Urbanising Faster Than Any Other Region</a:t>
            </a:r>
            <a:endParaRPr lang="en-US" sz="1400" dirty="0"/>
          </a:p>
        </p:txBody>
      </p:sp>
      <p:sp>
        <p:nvSpPr>
          <p:cNvPr id="13" name="Text 11"/>
          <p:cNvSpPr/>
          <p:nvPr/>
        </p:nvSpPr>
        <p:spPr>
          <a:xfrm>
            <a:off x="1234440" y="2670048"/>
            <a:ext cx="7406640" cy="658368"/>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Sub-Saharan Africa is projected to double its urban population by 2050. Combined with a young demographic and rising incomes in key markets, this represents the most significant long-term growth opportunity — though high income inequality in many markets remains a risk factor.</a:t>
            </a:r>
            <a:endParaRPr lang="en-US" sz="1050" dirty="0"/>
          </a:p>
        </p:txBody>
      </p:sp>
      <p:sp>
        <p:nvSpPr>
          <p:cNvPr id="14" name="Shape 12"/>
          <p:cNvSpPr/>
          <p:nvPr/>
        </p:nvSpPr>
        <p:spPr>
          <a:xfrm>
            <a:off x="365760" y="3511296"/>
            <a:ext cx="8412480" cy="1170432"/>
          </a:xfrm>
          <a:prstGeom prst="rect">
            <a:avLst/>
          </a:prstGeom>
          <a:solidFill>
            <a:srgbClr val="1E293B"/>
          </a:solidFill>
          <a:ln w="12700">
            <a:solidFill>
              <a:srgbClr val="14B8A6"/>
            </a:solidFill>
            <a:prstDash val="solid"/>
          </a:ln>
          <a:effectLst>
            <a:outerShdw blurRad="101600" dist="38100" dir="8100000" algn="bl" rotWithShape="0">
              <a:srgbClr val="000000">
                <a:alpha val="18000"/>
              </a:srgbClr>
            </a:outerShdw>
          </a:effectLst>
        </p:spPr>
        <p:txBody>
          <a:bodyPr/>
          <a:lstStyle/>
          <a:p>
            <a:endParaRPr lang="en-US"/>
          </a:p>
        </p:txBody>
      </p:sp>
      <p:sp>
        <p:nvSpPr>
          <p:cNvPr id="15" name="Shape 13"/>
          <p:cNvSpPr/>
          <p:nvPr/>
        </p:nvSpPr>
        <p:spPr>
          <a:xfrm>
            <a:off x="365760" y="3511296"/>
            <a:ext cx="73152" cy="1170432"/>
          </a:xfrm>
          <a:prstGeom prst="rect">
            <a:avLst/>
          </a:prstGeom>
          <a:solidFill>
            <a:srgbClr val="14B8A6"/>
          </a:solidFill>
          <a:ln w="12700">
            <a:solidFill>
              <a:srgbClr val="14B8A6"/>
            </a:solidFill>
            <a:prstDash val="solid"/>
          </a:ln>
        </p:spPr>
        <p:txBody>
          <a:bodyPr/>
          <a:lstStyle/>
          <a:p>
            <a:endParaRPr lang="en-US"/>
          </a:p>
        </p:txBody>
      </p:sp>
      <p:sp>
        <p:nvSpPr>
          <p:cNvPr id="16" name="Text 14"/>
          <p:cNvSpPr/>
          <p:nvPr/>
        </p:nvSpPr>
        <p:spPr>
          <a:xfrm>
            <a:off x="502920" y="3557016"/>
            <a:ext cx="640080" cy="502920"/>
          </a:xfrm>
          <a:prstGeom prst="rect">
            <a:avLst/>
          </a:prstGeom>
          <a:noFill/>
          <a:ln/>
        </p:spPr>
        <p:txBody>
          <a:bodyPr wrap="square" lIns="0" tIns="0" rIns="0" bIns="0" rtlCol="0" anchor="ctr"/>
          <a:lstStyle/>
          <a:p>
            <a:pPr marL="0" indent="0">
              <a:buNone/>
            </a:pPr>
            <a:r>
              <a:rPr lang="en-US" sz="2800" b="1" dirty="0">
                <a:solidFill>
                  <a:srgbClr val="14B8A6"/>
                </a:solidFill>
                <a:latin typeface="Georgia" pitchFamily="34" charset="0"/>
                <a:ea typeface="Georgia" pitchFamily="34" charset="-122"/>
                <a:cs typeface="Georgia" pitchFamily="34" charset="-120"/>
              </a:rPr>
              <a:t>03</a:t>
            </a:r>
            <a:endParaRPr lang="en-US" sz="2800" dirty="0"/>
          </a:p>
        </p:txBody>
      </p:sp>
      <p:sp>
        <p:nvSpPr>
          <p:cNvPr id="17" name="Text 15"/>
          <p:cNvSpPr/>
          <p:nvPr/>
        </p:nvSpPr>
        <p:spPr>
          <a:xfrm>
            <a:off x="1234440" y="3584448"/>
            <a:ext cx="7406640" cy="347472"/>
          </a:xfrm>
          <a:prstGeom prst="rect">
            <a:avLst/>
          </a:prstGeom>
          <a:noFill/>
          <a:ln/>
        </p:spPr>
        <p:txBody>
          <a:bodyPr wrap="square" lIns="0" tIns="0" rIns="0" bIns="0" rtlCol="0" anchor="ctr"/>
          <a:lstStyle/>
          <a:p>
            <a:pPr marL="0" indent="0">
              <a:buNone/>
            </a:pPr>
            <a:r>
              <a:rPr lang="en-US" sz="1400" b="1" dirty="0">
                <a:solidFill>
                  <a:srgbClr val="FFFFFF"/>
                </a:solidFill>
                <a:latin typeface="Georgia" pitchFamily="34" charset="0"/>
                <a:ea typeface="Georgia" pitchFamily="34" charset="-122"/>
                <a:cs typeface="Georgia" pitchFamily="34" charset="-120"/>
              </a:rPr>
              <a:t>The Urbanisation Inflection Point</a:t>
            </a:r>
            <a:endParaRPr lang="en-US" sz="1400" dirty="0"/>
          </a:p>
        </p:txBody>
      </p:sp>
      <p:sp>
        <p:nvSpPr>
          <p:cNvPr id="18" name="Text 16"/>
          <p:cNvSpPr/>
          <p:nvPr/>
        </p:nvSpPr>
        <p:spPr>
          <a:xfrm>
            <a:off x="1234440" y="3968496"/>
            <a:ext cx="7406640" cy="658368"/>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Countries crossing the 50–60% urbanisation threshold show accelerating income growth. Countries currently approaching this threshold — particularly in Southeast Asia and East Africa — represent the highest near-term growth opportunity.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182880"/>
            <a:ext cx="8229600" cy="548640"/>
          </a:xfrm>
          <a:prstGeom prst="rect">
            <a:avLst/>
          </a:prstGeom>
          <a:noFill/>
          <a:ln/>
        </p:spPr>
        <p:txBody>
          <a:bodyPr wrap="square" lIns="0" tIns="0" rIns="0" bIns="0" rtlCol="0" anchor="ctr"/>
          <a:lstStyle/>
          <a:p>
            <a:pPr marL="0" indent="0">
              <a:buNone/>
            </a:pPr>
            <a:r>
              <a:rPr lang="en-US" sz="3600" b="1" dirty="0">
                <a:solidFill>
                  <a:srgbClr val="0D1B2A"/>
                </a:solidFill>
                <a:latin typeface="Georgia" pitchFamily="34" charset="0"/>
                <a:ea typeface="Georgia" pitchFamily="34" charset="-122"/>
                <a:cs typeface="Georgia" pitchFamily="34" charset="-120"/>
              </a:rPr>
              <a:t>What I Would Do Next</a:t>
            </a:r>
            <a:endParaRPr lang="en-US" sz="3600" dirty="0"/>
          </a:p>
        </p:txBody>
      </p:sp>
      <p:sp>
        <p:nvSpPr>
          <p:cNvPr id="4" name="Shape 2"/>
          <p:cNvSpPr/>
          <p:nvPr/>
        </p:nvSpPr>
        <p:spPr>
          <a:xfrm>
            <a:off x="365760" y="914400"/>
            <a:ext cx="2651760" cy="18288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5" name="Shape 3"/>
          <p:cNvSpPr/>
          <p:nvPr/>
        </p:nvSpPr>
        <p:spPr>
          <a:xfrm>
            <a:off x="457200" y="1005840"/>
            <a:ext cx="1005840" cy="256032"/>
          </a:xfrm>
          <a:prstGeom prst="rect">
            <a:avLst/>
          </a:prstGeom>
          <a:solidFill>
            <a:srgbClr val="0D9488">
              <a:alpha val="15000"/>
            </a:srgbClr>
          </a:solidFill>
          <a:ln w="12700">
            <a:solidFill>
              <a:srgbClr val="0D9488">
                <a:alpha val="15000"/>
              </a:srgbClr>
            </a:solidFill>
            <a:prstDash val="solid"/>
          </a:ln>
        </p:spPr>
        <p:txBody>
          <a:bodyPr/>
          <a:lstStyle/>
          <a:p>
            <a:endParaRPr lang="en-US"/>
          </a:p>
        </p:txBody>
      </p:sp>
      <p:sp>
        <p:nvSpPr>
          <p:cNvPr id="6" name="Text 4"/>
          <p:cNvSpPr/>
          <p:nvPr/>
        </p:nvSpPr>
        <p:spPr>
          <a:xfrm>
            <a:off x="475488" y="1014984"/>
            <a:ext cx="969264" cy="228600"/>
          </a:xfrm>
          <a:prstGeom prst="rect">
            <a:avLst/>
          </a:prstGeom>
          <a:noFill/>
          <a:ln/>
        </p:spPr>
        <p:txBody>
          <a:bodyPr wrap="square" lIns="0" tIns="0" rIns="0" bIns="0" rtlCol="0" anchor="ctr"/>
          <a:lstStyle/>
          <a:p>
            <a:pPr marL="0" indent="0">
              <a:buNone/>
            </a:pPr>
            <a:r>
              <a:rPr lang="en-US" sz="800" b="1" dirty="0">
                <a:solidFill>
                  <a:srgbClr val="0D9488"/>
                </a:solidFill>
                <a:latin typeface="Calibri" pitchFamily="34" charset="0"/>
                <a:ea typeface="Calibri" pitchFamily="34" charset="-122"/>
                <a:cs typeface="Calibri" pitchFamily="34" charset="-120"/>
              </a:rPr>
              <a:t>Performance</a:t>
            </a:r>
            <a:endParaRPr lang="en-US" sz="800" dirty="0"/>
          </a:p>
        </p:txBody>
      </p:sp>
      <p:sp>
        <p:nvSpPr>
          <p:cNvPr id="7" name="Text 5"/>
          <p:cNvSpPr/>
          <p:nvPr/>
        </p:nvSpPr>
        <p:spPr>
          <a:xfrm>
            <a:off x="365760" y="1261872"/>
            <a:ext cx="2651760" cy="41148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8" name="Text 6"/>
          <p:cNvSpPr/>
          <p:nvPr/>
        </p:nvSpPr>
        <p:spPr>
          <a:xfrm>
            <a:off x="457200" y="1664208"/>
            <a:ext cx="2468880" cy="347472"/>
          </a:xfrm>
          <a:prstGeom prst="rect">
            <a:avLst/>
          </a:prstGeom>
          <a:noFill/>
          <a:ln/>
        </p:spPr>
        <p:txBody>
          <a:bodyPr wrap="square" lIns="0" tIns="0" rIns="0" bIns="0" rtlCol="0" anchor="ctr"/>
          <a:lstStyle/>
          <a:p>
            <a:pPr marL="0" indent="0">
              <a:buNone/>
            </a:pPr>
            <a:r>
              <a:rPr lang="en-US" sz="1100" b="1" dirty="0">
                <a:solidFill>
                  <a:srgbClr val="0D1B2A"/>
                </a:solidFill>
                <a:latin typeface="Georgia" pitchFamily="34" charset="0"/>
                <a:ea typeface="Georgia" pitchFamily="34" charset="-122"/>
                <a:cs typeface="Georgia" pitchFamily="34" charset="-120"/>
              </a:rPr>
              <a:t>Incremental Data Loads</a:t>
            </a:r>
            <a:endParaRPr lang="en-US" sz="1100" dirty="0"/>
          </a:p>
        </p:txBody>
      </p:sp>
      <p:sp>
        <p:nvSpPr>
          <p:cNvPr id="9" name="Text 7"/>
          <p:cNvSpPr/>
          <p:nvPr/>
        </p:nvSpPr>
        <p:spPr>
          <a:xfrm>
            <a:off x="457200" y="2029968"/>
            <a:ext cx="2468880" cy="64008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Replace full refresh with watermark-based incremental loading using Delta Lake MERGE. Only process new or changed records each run.</a:t>
            </a:r>
            <a:endParaRPr lang="en-US" sz="900" dirty="0"/>
          </a:p>
        </p:txBody>
      </p:sp>
      <p:sp>
        <p:nvSpPr>
          <p:cNvPr id="10" name="Shape 8"/>
          <p:cNvSpPr/>
          <p:nvPr/>
        </p:nvSpPr>
        <p:spPr>
          <a:xfrm>
            <a:off x="3200400" y="914400"/>
            <a:ext cx="2651760" cy="18288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1" name="Shape 9"/>
          <p:cNvSpPr/>
          <p:nvPr/>
        </p:nvSpPr>
        <p:spPr>
          <a:xfrm>
            <a:off x="3291840" y="1005840"/>
            <a:ext cx="1005840" cy="256032"/>
          </a:xfrm>
          <a:prstGeom prst="rect">
            <a:avLst/>
          </a:prstGeom>
          <a:solidFill>
            <a:srgbClr val="0D9488">
              <a:alpha val="15000"/>
            </a:srgbClr>
          </a:solidFill>
          <a:ln w="12700">
            <a:solidFill>
              <a:srgbClr val="0D9488">
                <a:alpha val="15000"/>
              </a:srgbClr>
            </a:solidFill>
            <a:prstDash val="solid"/>
          </a:ln>
        </p:spPr>
        <p:txBody>
          <a:bodyPr/>
          <a:lstStyle/>
          <a:p>
            <a:endParaRPr lang="en-US"/>
          </a:p>
        </p:txBody>
      </p:sp>
      <p:sp>
        <p:nvSpPr>
          <p:cNvPr id="12" name="Text 10"/>
          <p:cNvSpPr/>
          <p:nvPr/>
        </p:nvSpPr>
        <p:spPr>
          <a:xfrm>
            <a:off x="3310128" y="1014984"/>
            <a:ext cx="969264" cy="228600"/>
          </a:xfrm>
          <a:prstGeom prst="rect">
            <a:avLst/>
          </a:prstGeom>
          <a:noFill/>
          <a:ln/>
        </p:spPr>
        <p:txBody>
          <a:bodyPr wrap="square" lIns="0" tIns="0" rIns="0" bIns="0" rtlCol="0" anchor="ctr"/>
          <a:lstStyle/>
          <a:p>
            <a:pPr marL="0" indent="0">
              <a:buNone/>
            </a:pPr>
            <a:r>
              <a:rPr lang="en-US" sz="800" b="1" dirty="0">
                <a:solidFill>
                  <a:srgbClr val="0D9488"/>
                </a:solidFill>
                <a:latin typeface="Calibri" pitchFamily="34" charset="0"/>
                <a:ea typeface="Calibri" pitchFamily="34" charset="-122"/>
                <a:cs typeface="Calibri" pitchFamily="34" charset="-120"/>
              </a:rPr>
              <a:t>Reliability</a:t>
            </a:r>
            <a:endParaRPr lang="en-US" sz="800" dirty="0"/>
          </a:p>
        </p:txBody>
      </p:sp>
      <p:sp>
        <p:nvSpPr>
          <p:cNvPr id="13" name="Text 11"/>
          <p:cNvSpPr/>
          <p:nvPr/>
        </p:nvSpPr>
        <p:spPr>
          <a:xfrm>
            <a:off x="3200400" y="1261872"/>
            <a:ext cx="2651760" cy="41148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14" name="Text 12"/>
          <p:cNvSpPr/>
          <p:nvPr/>
        </p:nvSpPr>
        <p:spPr>
          <a:xfrm>
            <a:off x="3291840" y="1664208"/>
            <a:ext cx="2468880" cy="347472"/>
          </a:xfrm>
          <a:prstGeom prst="rect">
            <a:avLst/>
          </a:prstGeom>
          <a:noFill/>
          <a:ln/>
        </p:spPr>
        <p:txBody>
          <a:bodyPr wrap="square" lIns="0" tIns="0" rIns="0" bIns="0" rtlCol="0" anchor="ctr"/>
          <a:lstStyle/>
          <a:p>
            <a:pPr marL="0" indent="0">
              <a:buNone/>
            </a:pPr>
            <a:r>
              <a:rPr lang="en-US" sz="1100" b="1" dirty="0">
                <a:solidFill>
                  <a:srgbClr val="0D1B2A"/>
                </a:solidFill>
                <a:latin typeface="Georgia" pitchFamily="34" charset="0"/>
                <a:ea typeface="Georgia" pitchFamily="34" charset="-122"/>
                <a:cs typeface="Georgia" pitchFamily="34" charset="-120"/>
              </a:rPr>
              <a:t>Automated Orchestration</a:t>
            </a:r>
            <a:endParaRPr lang="en-US" sz="1100" dirty="0"/>
          </a:p>
        </p:txBody>
      </p:sp>
      <p:sp>
        <p:nvSpPr>
          <p:cNvPr id="15" name="Text 13"/>
          <p:cNvSpPr/>
          <p:nvPr/>
        </p:nvSpPr>
        <p:spPr>
          <a:xfrm>
            <a:off x="3291840" y="2029968"/>
            <a:ext cx="2468880" cy="64008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Schedule notebooks via Fabric Data Factory with dependencies — Bronze → Silver → Gold → DQ check. Pipeline stops and alerts on failure.</a:t>
            </a:r>
            <a:endParaRPr lang="en-US" sz="900" dirty="0"/>
          </a:p>
        </p:txBody>
      </p:sp>
      <p:sp>
        <p:nvSpPr>
          <p:cNvPr id="16" name="Shape 14"/>
          <p:cNvSpPr/>
          <p:nvPr/>
        </p:nvSpPr>
        <p:spPr>
          <a:xfrm>
            <a:off x="6035040" y="914400"/>
            <a:ext cx="2651760" cy="18288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17" name="Shape 15"/>
          <p:cNvSpPr/>
          <p:nvPr/>
        </p:nvSpPr>
        <p:spPr>
          <a:xfrm>
            <a:off x="6126480" y="1005840"/>
            <a:ext cx="1005840" cy="256032"/>
          </a:xfrm>
          <a:prstGeom prst="rect">
            <a:avLst/>
          </a:prstGeom>
          <a:solidFill>
            <a:srgbClr val="0D9488">
              <a:alpha val="15000"/>
            </a:srgbClr>
          </a:solidFill>
          <a:ln w="12700">
            <a:solidFill>
              <a:srgbClr val="0D9488">
                <a:alpha val="15000"/>
              </a:srgbClr>
            </a:solidFill>
            <a:prstDash val="solid"/>
          </a:ln>
        </p:spPr>
        <p:txBody>
          <a:bodyPr/>
          <a:lstStyle/>
          <a:p>
            <a:endParaRPr lang="en-US"/>
          </a:p>
        </p:txBody>
      </p:sp>
      <p:sp>
        <p:nvSpPr>
          <p:cNvPr id="18" name="Text 16"/>
          <p:cNvSpPr/>
          <p:nvPr/>
        </p:nvSpPr>
        <p:spPr>
          <a:xfrm>
            <a:off x="6144768" y="1014984"/>
            <a:ext cx="969264" cy="228600"/>
          </a:xfrm>
          <a:prstGeom prst="rect">
            <a:avLst/>
          </a:prstGeom>
          <a:noFill/>
          <a:ln/>
        </p:spPr>
        <p:txBody>
          <a:bodyPr wrap="square" lIns="0" tIns="0" rIns="0" bIns="0" rtlCol="0" anchor="ctr"/>
          <a:lstStyle/>
          <a:p>
            <a:pPr marL="0" indent="0">
              <a:buNone/>
            </a:pPr>
            <a:r>
              <a:rPr lang="en-US" sz="800" b="1" dirty="0">
                <a:solidFill>
                  <a:srgbClr val="0D9488"/>
                </a:solidFill>
                <a:latin typeface="Calibri" pitchFamily="34" charset="0"/>
                <a:ea typeface="Calibri" pitchFamily="34" charset="-122"/>
                <a:cs typeface="Calibri" pitchFamily="34" charset="-120"/>
              </a:rPr>
              <a:t>Quality</a:t>
            </a:r>
            <a:endParaRPr lang="en-US" sz="800" dirty="0"/>
          </a:p>
        </p:txBody>
      </p:sp>
      <p:sp>
        <p:nvSpPr>
          <p:cNvPr id="19" name="Text 17"/>
          <p:cNvSpPr/>
          <p:nvPr/>
        </p:nvSpPr>
        <p:spPr>
          <a:xfrm>
            <a:off x="6035040" y="1261872"/>
            <a:ext cx="2651760" cy="41148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20" name="Text 18"/>
          <p:cNvSpPr/>
          <p:nvPr/>
        </p:nvSpPr>
        <p:spPr>
          <a:xfrm>
            <a:off x="6126480" y="1664208"/>
            <a:ext cx="2468880" cy="347472"/>
          </a:xfrm>
          <a:prstGeom prst="rect">
            <a:avLst/>
          </a:prstGeom>
          <a:noFill/>
          <a:ln/>
        </p:spPr>
        <p:txBody>
          <a:bodyPr wrap="square" lIns="0" tIns="0" rIns="0" bIns="0" rtlCol="0" anchor="ctr"/>
          <a:lstStyle/>
          <a:p>
            <a:pPr marL="0" indent="0">
              <a:buNone/>
            </a:pPr>
            <a:r>
              <a:rPr lang="en-US" sz="1100" b="1" dirty="0">
                <a:solidFill>
                  <a:srgbClr val="0D1B2A"/>
                </a:solidFill>
                <a:latin typeface="Georgia" pitchFamily="34" charset="0"/>
                <a:ea typeface="Georgia" pitchFamily="34" charset="-122"/>
                <a:cs typeface="Georgia" pitchFamily="34" charset="-120"/>
              </a:rPr>
              <a:t>Formal Data Quality Contracts</a:t>
            </a:r>
            <a:endParaRPr lang="en-US" sz="1100" dirty="0"/>
          </a:p>
        </p:txBody>
      </p:sp>
      <p:sp>
        <p:nvSpPr>
          <p:cNvPr id="21" name="Text 19"/>
          <p:cNvSpPr/>
          <p:nvPr/>
        </p:nvSpPr>
        <p:spPr>
          <a:xfrm>
            <a:off x="6126480" y="2029968"/>
            <a:ext cx="2468880" cy="64008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Replace informational DQ checks with hard stops using Great Expectations or dbt tests. Define expected row counts, value ranges and referential integrity.</a:t>
            </a:r>
            <a:endParaRPr lang="en-US" sz="900" dirty="0"/>
          </a:p>
        </p:txBody>
      </p:sp>
      <p:sp>
        <p:nvSpPr>
          <p:cNvPr id="22" name="Shape 20"/>
          <p:cNvSpPr/>
          <p:nvPr/>
        </p:nvSpPr>
        <p:spPr>
          <a:xfrm>
            <a:off x="365760" y="2880360"/>
            <a:ext cx="2651760" cy="18288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3" name="Shape 21"/>
          <p:cNvSpPr/>
          <p:nvPr/>
        </p:nvSpPr>
        <p:spPr>
          <a:xfrm>
            <a:off x="457200" y="2971800"/>
            <a:ext cx="1005840" cy="256032"/>
          </a:xfrm>
          <a:prstGeom prst="rect">
            <a:avLst/>
          </a:prstGeom>
          <a:solidFill>
            <a:srgbClr val="0D9488">
              <a:alpha val="15000"/>
            </a:srgbClr>
          </a:solidFill>
          <a:ln w="12700">
            <a:solidFill>
              <a:srgbClr val="0D9488">
                <a:alpha val="15000"/>
              </a:srgbClr>
            </a:solidFill>
            <a:prstDash val="solid"/>
          </a:ln>
        </p:spPr>
        <p:txBody>
          <a:bodyPr/>
          <a:lstStyle/>
          <a:p>
            <a:endParaRPr lang="en-US"/>
          </a:p>
        </p:txBody>
      </p:sp>
      <p:sp>
        <p:nvSpPr>
          <p:cNvPr id="24" name="Text 22"/>
          <p:cNvSpPr/>
          <p:nvPr/>
        </p:nvSpPr>
        <p:spPr>
          <a:xfrm>
            <a:off x="475488" y="2980944"/>
            <a:ext cx="969264" cy="228600"/>
          </a:xfrm>
          <a:prstGeom prst="rect">
            <a:avLst/>
          </a:prstGeom>
          <a:noFill/>
          <a:ln/>
        </p:spPr>
        <p:txBody>
          <a:bodyPr wrap="square" lIns="0" tIns="0" rIns="0" bIns="0" rtlCol="0" anchor="ctr"/>
          <a:lstStyle/>
          <a:p>
            <a:pPr marL="0" indent="0">
              <a:buNone/>
            </a:pPr>
            <a:r>
              <a:rPr lang="en-US" sz="800" b="1" dirty="0">
                <a:solidFill>
                  <a:srgbClr val="0D9488"/>
                </a:solidFill>
                <a:latin typeface="Calibri" pitchFamily="34" charset="0"/>
                <a:ea typeface="Calibri" pitchFamily="34" charset="-122"/>
                <a:cs typeface="Calibri" pitchFamily="34" charset="-120"/>
              </a:rPr>
              <a:t>Maintainability</a:t>
            </a:r>
            <a:endParaRPr lang="en-US" sz="800" dirty="0"/>
          </a:p>
        </p:txBody>
      </p:sp>
      <p:sp>
        <p:nvSpPr>
          <p:cNvPr id="25" name="Text 23"/>
          <p:cNvSpPr/>
          <p:nvPr/>
        </p:nvSpPr>
        <p:spPr>
          <a:xfrm>
            <a:off x="365760" y="3227832"/>
            <a:ext cx="2651760" cy="41148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26" name="Text 24"/>
          <p:cNvSpPr/>
          <p:nvPr/>
        </p:nvSpPr>
        <p:spPr>
          <a:xfrm>
            <a:off x="457200" y="3630168"/>
            <a:ext cx="2468880" cy="347472"/>
          </a:xfrm>
          <a:prstGeom prst="rect">
            <a:avLst/>
          </a:prstGeom>
          <a:noFill/>
          <a:ln/>
        </p:spPr>
        <p:txBody>
          <a:bodyPr wrap="square" lIns="0" tIns="0" rIns="0" bIns="0" rtlCol="0" anchor="ctr"/>
          <a:lstStyle/>
          <a:p>
            <a:pPr marL="0" indent="0">
              <a:buNone/>
            </a:pPr>
            <a:r>
              <a:rPr lang="en-US" sz="1100" b="1" dirty="0">
                <a:solidFill>
                  <a:srgbClr val="0D1B2A"/>
                </a:solidFill>
                <a:latin typeface="Georgia" pitchFamily="34" charset="0"/>
                <a:ea typeface="Georgia" pitchFamily="34" charset="-122"/>
                <a:cs typeface="Georgia" pitchFamily="34" charset="-120"/>
              </a:rPr>
              <a:t>CI/CD via GitHub Actions</a:t>
            </a:r>
            <a:endParaRPr lang="en-US" sz="1100" dirty="0"/>
          </a:p>
        </p:txBody>
      </p:sp>
      <p:sp>
        <p:nvSpPr>
          <p:cNvPr id="27" name="Text 25"/>
          <p:cNvSpPr/>
          <p:nvPr/>
        </p:nvSpPr>
        <p:spPr>
          <a:xfrm>
            <a:off x="457200" y="3995928"/>
            <a:ext cx="2468880" cy="64008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Automated testing and deployment of notebook changes through pull requests before reaching production.</a:t>
            </a:r>
            <a:endParaRPr lang="en-US" sz="900" dirty="0"/>
          </a:p>
        </p:txBody>
      </p:sp>
      <p:sp>
        <p:nvSpPr>
          <p:cNvPr id="28" name="Shape 26"/>
          <p:cNvSpPr/>
          <p:nvPr/>
        </p:nvSpPr>
        <p:spPr>
          <a:xfrm>
            <a:off x="3200400" y="2880360"/>
            <a:ext cx="2651760" cy="18288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29" name="Shape 27"/>
          <p:cNvSpPr/>
          <p:nvPr/>
        </p:nvSpPr>
        <p:spPr>
          <a:xfrm>
            <a:off x="3291840" y="2971800"/>
            <a:ext cx="1005840" cy="256032"/>
          </a:xfrm>
          <a:prstGeom prst="rect">
            <a:avLst/>
          </a:prstGeom>
          <a:solidFill>
            <a:srgbClr val="0D9488">
              <a:alpha val="15000"/>
            </a:srgbClr>
          </a:solidFill>
          <a:ln w="12700">
            <a:solidFill>
              <a:srgbClr val="0D9488">
                <a:alpha val="15000"/>
              </a:srgbClr>
            </a:solidFill>
            <a:prstDash val="solid"/>
          </a:ln>
        </p:spPr>
        <p:txBody>
          <a:bodyPr/>
          <a:lstStyle/>
          <a:p>
            <a:endParaRPr lang="en-US"/>
          </a:p>
        </p:txBody>
      </p:sp>
      <p:sp>
        <p:nvSpPr>
          <p:cNvPr id="30" name="Text 28"/>
          <p:cNvSpPr/>
          <p:nvPr/>
        </p:nvSpPr>
        <p:spPr>
          <a:xfrm>
            <a:off x="3310128" y="2980944"/>
            <a:ext cx="969264" cy="228600"/>
          </a:xfrm>
          <a:prstGeom prst="rect">
            <a:avLst/>
          </a:prstGeom>
          <a:noFill/>
          <a:ln/>
        </p:spPr>
        <p:txBody>
          <a:bodyPr wrap="square" lIns="0" tIns="0" rIns="0" bIns="0" rtlCol="0" anchor="ctr"/>
          <a:lstStyle/>
          <a:p>
            <a:pPr marL="0" indent="0">
              <a:buNone/>
            </a:pPr>
            <a:r>
              <a:rPr lang="en-US" sz="800" b="1" dirty="0">
                <a:solidFill>
                  <a:srgbClr val="0D9488"/>
                </a:solidFill>
                <a:latin typeface="Calibri" pitchFamily="34" charset="0"/>
                <a:ea typeface="Calibri" pitchFamily="34" charset="-122"/>
                <a:cs typeface="Calibri" pitchFamily="34" charset="-120"/>
              </a:rPr>
              <a:t>Enrichment</a:t>
            </a:r>
            <a:endParaRPr lang="en-US" sz="800" dirty="0"/>
          </a:p>
        </p:txBody>
      </p:sp>
      <p:sp>
        <p:nvSpPr>
          <p:cNvPr id="31" name="Text 29"/>
          <p:cNvSpPr/>
          <p:nvPr/>
        </p:nvSpPr>
        <p:spPr>
          <a:xfrm>
            <a:off x="3200400" y="3227832"/>
            <a:ext cx="2651760" cy="41148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32" name="Text 30"/>
          <p:cNvSpPr/>
          <p:nvPr/>
        </p:nvSpPr>
        <p:spPr>
          <a:xfrm>
            <a:off x="3291840" y="3630168"/>
            <a:ext cx="2468880" cy="347472"/>
          </a:xfrm>
          <a:prstGeom prst="rect">
            <a:avLst/>
          </a:prstGeom>
          <a:noFill/>
          <a:ln/>
        </p:spPr>
        <p:txBody>
          <a:bodyPr wrap="square" lIns="0" tIns="0" rIns="0" bIns="0" rtlCol="0" anchor="ctr"/>
          <a:lstStyle/>
          <a:p>
            <a:pPr marL="0" indent="0">
              <a:buNone/>
            </a:pPr>
            <a:r>
              <a:rPr lang="en-US" sz="1100" b="1" dirty="0">
                <a:solidFill>
                  <a:srgbClr val="0D1B2A"/>
                </a:solidFill>
                <a:latin typeface="Georgia" pitchFamily="34" charset="0"/>
                <a:ea typeface="Georgia" pitchFamily="34" charset="-122"/>
                <a:cs typeface="Georgia" pitchFamily="34" charset="-120"/>
              </a:rPr>
              <a:t>Additional Data Sources</a:t>
            </a:r>
            <a:endParaRPr lang="en-US" sz="1100" dirty="0"/>
          </a:p>
        </p:txBody>
      </p:sp>
      <p:sp>
        <p:nvSpPr>
          <p:cNvPr id="33" name="Text 31"/>
          <p:cNvSpPr/>
          <p:nvPr/>
        </p:nvSpPr>
        <p:spPr>
          <a:xfrm>
            <a:off x="3291840" y="3995928"/>
            <a:ext cx="2468880" cy="64008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World Bank GDP data for fuller income coverage. IMF financial inclusion data showing % of population with bank accounts.</a:t>
            </a:r>
            <a:endParaRPr lang="en-US" sz="900" dirty="0"/>
          </a:p>
        </p:txBody>
      </p:sp>
      <p:sp>
        <p:nvSpPr>
          <p:cNvPr id="34" name="Shape 32"/>
          <p:cNvSpPr/>
          <p:nvPr/>
        </p:nvSpPr>
        <p:spPr>
          <a:xfrm>
            <a:off x="6035040" y="2880360"/>
            <a:ext cx="2651760" cy="1828800"/>
          </a:xfrm>
          <a:prstGeom prst="rect">
            <a:avLst/>
          </a:prstGeom>
          <a:solidFill>
            <a:srgbClr val="FFFFFF"/>
          </a:solidFill>
          <a:ln w="12700">
            <a:solidFill>
              <a:srgbClr val="E2E8F0"/>
            </a:solidFill>
            <a:prstDash val="solid"/>
          </a:ln>
          <a:effectLst>
            <a:outerShdw blurRad="101600" dist="38100" dir="8100000" algn="bl" rotWithShape="0">
              <a:srgbClr val="000000">
                <a:alpha val="18000"/>
              </a:srgbClr>
            </a:outerShdw>
          </a:effectLst>
        </p:spPr>
        <p:txBody>
          <a:bodyPr/>
          <a:lstStyle/>
          <a:p>
            <a:endParaRPr lang="en-US"/>
          </a:p>
        </p:txBody>
      </p:sp>
      <p:sp>
        <p:nvSpPr>
          <p:cNvPr id="35" name="Shape 33"/>
          <p:cNvSpPr/>
          <p:nvPr/>
        </p:nvSpPr>
        <p:spPr>
          <a:xfrm>
            <a:off x="6126480" y="2971800"/>
            <a:ext cx="1005840" cy="256032"/>
          </a:xfrm>
          <a:prstGeom prst="rect">
            <a:avLst/>
          </a:prstGeom>
          <a:solidFill>
            <a:srgbClr val="0D9488">
              <a:alpha val="15000"/>
            </a:srgbClr>
          </a:solidFill>
          <a:ln w="12700">
            <a:solidFill>
              <a:srgbClr val="0D9488">
                <a:alpha val="15000"/>
              </a:srgbClr>
            </a:solidFill>
            <a:prstDash val="solid"/>
          </a:ln>
        </p:spPr>
        <p:txBody>
          <a:bodyPr/>
          <a:lstStyle/>
          <a:p>
            <a:endParaRPr lang="en-US"/>
          </a:p>
        </p:txBody>
      </p:sp>
      <p:sp>
        <p:nvSpPr>
          <p:cNvPr id="36" name="Text 34"/>
          <p:cNvSpPr/>
          <p:nvPr/>
        </p:nvSpPr>
        <p:spPr>
          <a:xfrm>
            <a:off x="6144768" y="2980944"/>
            <a:ext cx="969264" cy="228600"/>
          </a:xfrm>
          <a:prstGeom prst="rect">
            <a:avLst/>
          </a:prstGeom>
          <a:noFill/>
          <a:ln/>
        </p:spPr>
        <p:txBody>
          <a:bodyPr wrap="square" lIns="0" tIns="0" rIns="0" bIns="0" rtlCol="0" anchor="ctr"/>
          <a:lstStyle/>
          <a:p>
            <a:pPr marL="0" indent="0">
              <a:buNone/>
            </a:pPr>
            <a:r>
              <a:rPr lang="en-US" sz="800" b="1" dirty="0">
                <a:solidFill>
                  <a:srgbClr val="0D9488"/>
                </a:solidFill>
                <a:latin typeface="Calibri" pitchFamily="34" charset="0"/>
                <a:ea typeface="Calibri" pitchFamily="34" charset="-122"/>
                <a:cs typeface="Calibri" pitchFamily="34" charset="-120"/>
              </a:rPr>
              <a:t>Usability</a:t>
            </a:r>
            <a:endParaRPr lang="en-US" sz="800" dirty="0"/>
          </a:p>
        </p:txBody>
      </p:sp>
      <p:sp>
        <p:nvSpPr>
          <p:cNvPr id="37" name="Text 35"/>
          <p:cNvSpPr/>
          <p:nvPr/>
        </p:nvSpPr>
        <p:spPr>
          <a:xfrm>
            <a:off x="6035040" y="3227832"/>
            <a:ext cx="2651760" cy="41148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38" name="Text 36"/>
          <p:cNvSpPr/>
          <p:nvPr/>
        </p:nvSpPr>
        <p:spPr>
          <a:xfrm>
            <a:off x="6126480" y="3630168"/>
            <a:ext cx="2468880" cy="347472"/>
          </a:xfrm>
          <a:prstGeom prst="rect">
            <a:avLst/>
          </a:prstGeom>
          <a:noFill/>
          <a:ln/>
        </p:spPr>
        <p:txBody>
          <a:bodyPr wrap="square" lIns="0" tIns="0" rIns="0" bIns="0" rtlCol="0" anchor="ctr"/>
          <a:lstStyle/>
          <a:p>
            <a:pPr marL="0" indent="0">
              <a:buNone/>
            </a:pPr>
            <a:r>
              <a:rPr lang="en-US" sz="1100" b="1" dirty="0">
                <a:solidFill>
                  <a:srgbClr val="0D1B2A"/>
                </a:solidFill>
                <a:latin typeface="Georgia" pitchFamily="34" charset="0"/>
                <a:ea typeface="Georgia" pitchFamily="34" charset="-122"/>
                <a:cs typeface="Georgia" pitchFamily="34" charset="-120"/>
              </a:rPr>
              <a:t>Configurable Opportunity Score</a:t>
            </a:r>
            <a:endParaRPr lang="en-US" sz="1100" dirty="0"/>
          </a:p>
        </p:txBody>
      </p:sp>
      <p:sp>
        <p:nvSpPr>
          <p:cNvPr id="39" name="Text 37"/>
          <p:cNvSpPr/>
          <p:nvPr/>
        </p:nvSpPr>
        <p:spPr>
          <a:xfrm>
            <a:off x="6126480" y="3995928"/>
            <a:ext cx="2468880" cy="64008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Move scoring weights to a config table so the investment team can run scenario analysis without touching code.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457200" y="3200400"/>
            <a:ext cx="3200400" cy="3200400"/>
          </a:xfrm>
          <a:prstGeom prst="ellipse">
            <a:avLst/>
          </a:prstGeom>
          <a:solidFill>
            <a:srgbClr val="0D9488">
              <a:alpha val="12000"/>
            </a:srgbClr>
          </a:solidFill>
          <a:ln w="12700">
            <a:solidFill>
              <a:srgbClr val="0D9488">
                <a:alpha val="12000"/>
              </a:srgbClr>
            </a:solidFill>
            <a:prstDash val="solid"/>
          </a:ln>
        </p:spPr>
        <p:txBody>
          <a:bodyPr/>
          <a:lstStyle/>
          <a:p>
            <a:endParaRPr lang="en-US"/>
          </a:p>
        </p:txBody>
      </p:sp>
      <p:sp>
        <p:nvSpPr>
          <p:cNvPr id="3" name="Shape 1"/>
          <p:cNvSpPr/>
          <p:nvPr/>
        </p:nvSpPr>
        <p:spPr>
          <a:xfrm>
            <a:off x="7315200" y="-731520"/>
            <a:ext cx="2743200" cy="2743200"/>
          </a:xfrm>
          <a:prstGeom prst="ellipse">
            <a:avLst/>
          </a:prstGeom>
          <a:solidFill>
            <a:srgbClr val="F59E0B">
              <a:alpha val="12000"/>
            </a:srgbClr>
          </a:solidFill>
          <a:ln w="12700">
            <a:solidFill>
              <a:srgbClr val="F59E0B">
                <a:alpha val="12000"/>
              </a:srgbClr>
            </a:solidFill>
            <a:prstDash val="solid"/>
          </a:ln>
        </p:spPr>
        <p:txBody>
          <a:bodyPr/>
          <a:lstStyle/>
          <a:p>
            <a:endParaRPr lang="en-US"/>
          </a:p>
        </p:txBody>
      </p:sp>
      <p:sp>
        <p:nvSpPr>
          <p:cNvPr id="4" name="Shape 2"/>
          <p:cNvSpPr/>
          <p:nvPr/>
        </p:nvSpPr>
        <p:spPr>
          <a:xfrm>
            <a:off x="0" y="0"/>
            <a:ext cx="9144000" cy="64008"/>
          </a:xfrm>
          <a:prstGeom prst="rect">
            <a:avLst/>
          </a:prstGeom>
          <a:solidFill>
            <a:srgbClr val="0D9488"/>
          </a:solidFill>
          <a:ln w="12700">
            <a:solidFill>
              <a:srgbClr val="0D9488"/>
            </a:solidFill>
            <a:prstDash val="solid"/>
          </a:ln>
        </p:spPr>
        <p:txBody>
          <a:bodyPr/>
          <a:lstStyle/>
          <a:p>
            <a:endParaRPr lang="en-US"/>
          </a:p>
        </p:txBody>
      </p:sp>
      <p:sp>
        <p:nvSpPr>
          <p:cNvPr id="5" name="Text 3"/>
          <p:cNvSpPr/>
          <p:nvPr/>
        </p:nvSpPr>
        <p:spPr>
          <a:xfrm>
            <a:off x="914400" y="822960"/>
            <a:ext cx="7315200" cy="914400"/>
          </a:xfrm>
          <a:prstGeom prst="rect">
            <a:avLst/>
          </a:prstGeom>
          <a:noFill/>
          <a:ln/>
        </p:spPr>
        <p:txBody>
          <a:bodyPr wrap="square" lIns="0" tIns="0" rIns="0" bIns="0" rtlCol="0" anchor="ctr"/>
          <a:lstStyle/>
          <a:p>
            <a:pPr marL="0" indent="0" algn="ctr">
              <a:buNone/>
            </a:pPr>
            <a:r>
              <a:rPr lang="en-US" sz="5600" b="1" dirty="0">
                <a:solidFill>
                  <a:srgbClr val="FFFFFF"/>
                </a:solidFill>
                <a:latin typeface="Georgia" pitchFamily="34" charset="0"/>
                <a:ea typeface="Georgia" pitchFamily="34" charset="-122"/>
                <a:cs typeface="Georgia" pitchFamily="34" charset="-120"/>
              </a:rPr>
              <a:t>Thank You</a:t>
            </a:r>
            <a:endParaRPr lang="en-US" sz="5600" dirty="0"/>
          </a:p>
        </p:txBody>
      </p:sp>
      <p:sp>
        <p:nvSpPr>
          <p:cNvPr id="7" name="Shape 5"/>
          <p:cNvSpPr/>
          <p:nvPr/>
        </p:nvSpPr>
        <p:spPr>
          <a:xfrm>
            <a:off x="3200400" y="2193837"/>
            <a:ext cx="2743200" cy="36576"/>
          </a:xfrm>
          <a:prstGeom prst="rect">
            <a:avLst/>
          </a:prstGeom>
          <a:solidFill>
            <a:srgbClr val="0D9488"/>
          </a:solidFill>
          <a:ln w="12700">
            <a:solidFill>
              <a:srgbClr val="0D9488"/>
            </a:solidFill>
            <a:prstDash val="solid"/>
          </a:ln>
        </p:spPr>
        <p:txBody>
          <a:bodyPr/>
          <a:lstStyle/>
          <a:p>
            <a:endParaRPr lang="en-US"/>
          </a:p>
        </p:txBody>
      </p:sp>
      <p:sp>
        <p:nvSpPr>
          <p:cNvPr id="8" name="Text 6"/>
          <p:cNvSpPr/>
          <p:nvPr/>
        </p:nvSpPr>
        <p:spPr>
          <a:xfrm>
            <a:off x="731520" y="2514600"/>
            <a:ext cx="1828800" cy="594360"/>
          </a:xfrm>
          <a:prstGeom prst="rect">
            <a:avLst/>
          </a:prstGeom>
          <a:noFill/>
          <a:ln/>
        </p:spPr>
        <p:txBody>
          <a:bodyPr wrap="square" lIns="0" tIns="0" rIns="0" bIns="0" rtlCol="0" anchor="ctr"/>
          <a:lstStyle/>
          <a:p>
            <a:pPr marL="0" indent="0" algn="ctr">
              <a:buNone/>
            </a:pPr>
            <a:r>
              <a:rPr lang="en-US" sz="2800" b="1" dirty="0">
                <a:solidFill>
                  <a:srgbClr val="F59E0B"/>
                </a:solidFill>
                <a:latin typeface="Georgia" pitchFamily="34" charset="0"/>
                <a:ea typeface="Georgia" pitchFamily="34" charset="-122"/>
                <a:cs typeface="Georgia" pitchFamily="34" charset="-120"/>
              </a:rPr>
              <a:t>235</a:t>
            </a:r>
            <a:endParaRPr lang="en-US" sz="2800" dirty="0"/>
          </a:p>
        </p:txBody>
      </p:sp>
      <p:sp>
        <p:nvSpPr>
          <p:cNvPr id="9" name="Text 7"/>
          <p:cNvSpPr/>
          <p:nvPr/>
        </p:nvSpPr>
        <p:spPr>
          <a:xfrm>
            <a:off x="731520" y="3090672"/>
            <a:ext cx="1828800" cy="29260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Countries</a:t>
            </a:r>
            <a:endParaRPr lang="en-US" sz="1000" dirty="0"/>
          </a:p>
        </p:txBody>
      </p:sp>
      <p:sp>
        <p:nvSpPr>
          <p:cNvPr id="10" name="Text 8"/>
          <p:cNvSpPr/>
          <p:nvPr/>
        </p:nvSpPr>
        <p:spPr>
          <a:xfrm>
            <a:off x="2743200" y="2514600"/>
            <a:ext cx="1828800" cy="594360"/>
          </a:xfrm>
          <a:prstGeom prst="rect">
            <a:avLst/>
          </a:prstGeom>
          <a:noFill/>
          <a:ln/>
        </p:spPr>
        <p:txBody>
          <a:bodyPr wrap="square" lIns="0" tIns="0" rIns="0" bIns="0" rtlCol="0" anchor="ctr"/>
          <a:lstStyle/>
          <a:p>
            <a:pPr marL="0" indent="0" algn="ctr">
              <a:buNone/>
            </a:pPr>
            <a:r>
              <a:rPr lang="en-US" sz="2800" b="1" dirty="0">
                <a:solidFill>
                  <a:srgbClr val="F59E0B"/>
                </a:solidFill>
                <a:latin typeface="Georgia" pitchFamily="34" charset="0"/>
                <a:ea typeface="Georgia" pitchFamily="34" charset="-122"/>
                <a:cs typeface="Georgia" pitchFamily="34" charset="-120"/>
              </a:rPr>
              <a:t>23,735</a:t>
            </a:r>
            <a:endParaRPr lang="en-US" sz="2800" dirty="0"/>
          </a:p>
        </p:txBody>
      </p:sp>
      <p:sp>
        <p:nvSpPr>
          <p:cNvPr id="11" name="Text 9"/>
          <p:cNvSpPr/>
          <p:nvPr/>
        </p:nvSpPr>
        <p:spPr>
          <a:xfrm>
            <a:off x="2743200" y="3090672"/>
            <a:ext cx="1828800" cy="29260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Rows Processed</a:t>
            </a:r>
            <a:endParaRPr lang="en-US" sz="1000" dirty="0"/>
          </a:p>
        </p:txBody>
      </p:sp>
      <p:sp>
        <p:nvSpPr>
          <p:cNvPr id="12" name="Text 10"/>
          <p:cNvSpPr/>
          <p:nvPr/>
        </p:nvSpPr>
        <p:spPr>
          <a:xfrm>
            <a:off x="4754880" y="2514600"/>
            <a:ext cx="1828800" cy="594360"/>
          </a:xfrm>
          <a:prstGeom prst="rect">
            <a:avLst/>
          </a:prstGeom>
          <a:noFill/>
          <a:ln/>
        </p:spPr>
        <p:txBody>
          <a:bodyPr wrap="square" lIns="0" tIns="0" rIns="0" bIns="0" rtlCol="0" anchor="ctr"/>
          <a:lstStyle/>
          <a:p>
            <a:pPr marL="0" indent="0" algn="ctr">
              <a:buNone/>
            </a:pPr>
            <a:r>
              <a:rPr lang="en-US" sz="2800" b="1" dirty="0">
                <a:solidFill>
                  <a:srgbClr val="F59E0B"/>
                </a:solidFill>
                <a:latin typeface="Georgia" pitchFamily="34" charset="0"/>
                <a:ea typeface="Georgia" pitchFamily="34" charset="-122"/>
                <a:cs typeface="Georgia" pitchFamily="34" charset="-120"/>
              </a:rPr>
              <a:t>32</a:t>
            </a:r>
            <a:endParaRPr lang="en-US" sz="2800" dirty="0"/>
          </a:p>
        </p:txBody>
      </p:sp>
      <p:sp>
        <p:nvSpPr>
          <p:cNvPr id="13" name="Text 11"/>
          <p:cNvSpPr/>
          <p:nvPr/>
        </p:nvSpPr>
        <p:spPr>
          <a:xfrm>
            <a:off x="4754880" y="3090672"/>
            <a:ext cx="1828800" cy="29260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Opportunities</a:t>
            </a:r>
            <a:endParaRPr lang="en-US" sz="1000" dirty="0"/>
          </a:p>
        </p:txBody>
      </p:sp>
      <p:sp>
        <p:nvSpPr>
          <p:cNvPr id="14" name="Text 12"/>
          <p:cNvSpPr/>
          <p:nvPr/>
        </p:nvSpPr>
        <p:spPr>
          <a:xfrm>
            <a:off x="6766560" y="2514600"/>
            <a:ext cx="1828800" cy="594360"/>
          </a:xfrm>
          <a:prstGeom prst="rect">
            <a:avLst/>
          </a:prstGeom>
          <a:noFill/>
          <a:ln/>
        </p:spPr>
        <p:txBody>
          <a:bodyPr wrap="square" lIns="0" tIns="0" rIns="0" bIns="0" rtlCol="0" anchor="ctr"/>
          <a:lstStyle/>
          <a:p>
            <a:pPr marL="0" indent="0" algn="ctr">
              <a:buNone/>
            </a:pPr>
            <a:r>
              <a:rPr lang="en-US" sz="2800" b="1" dirty="0">
                <a:solidFill>
                  <a:srgbClr val="F59E0B"/>
                </a:solidFill>
                <a:latin typeface="Georgia" pitchFamily="34" charset="0"/>
                <a:ea typeface="Georgia" pitchFamily="34" charset="-122"/>
                <a:cs typeface="Georgia" pitchFamily="34" charset="-120"/>
              </a:rPr>
              <a:t>3</a:t>
            </a:r>
            <a:endParaRPr lang="en-US" sz="2800" dirty="0"/>
          </a:p>
        </p:txBody>
      </p:sp>
      <p:sp>
        <p:nvSpPr>
          <p:cNvPr id="15" name="Text 13"/>
          <p:cNvSpPr/>
          <p:nvPr/>
        </p:nvSpPr>
        <p:spPr>
          <a:xfrm>
            <a:off x="6766560" y="3090672"/>
            <a:ext cx="1828800" cy="292608"/>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Report Pages</a:t>
            </a:r>
            <a:endParaRPr lang="en-US" sz="1000" dirty="0"/>
          </a:p>
        </p:txBody>
      </p:sp>
      <p:sp>
        <p:nvSpPr>
          <p:cNvPr id="16" name="Shape 14"/>
          <p:cNvSpPr/>
          <p:nvPr/>
        </p:nvSpPr>
        <p:spPr>
          <a:xfrm>
            <a:off x="1371600" y="3566160"/>
            <a:ext cx="6400800" cy="685800"/>
          </a:xfrm>
          <a:prstGeom prst="rect">
            <a:avLst/>
          </a:prstGeom>
          <a:solidFill>
            <a:srgbClr val="1E293B"/>
          </a:solidFill>
          <a:ln w="12700">
            <a:solidFill>
              <a:srgbClr val="0D9488"/>
            </a:solidFill>
            <a:prstDash val="solid"/>
          </a:ln>
          <a:effectLst>
            <a:outerShdw blurRad="101600" dist="38100" dir="8100000" algn="bl" rotWithShape="0">
              <a:srgbClr val="000000">
                <a:alpha val="18000"/>
              </a:srgbClr>
            </a:outerShdw>
          </a:effectLst>
        </p:spPr>
        <p:txBody>
          <a:bodyPr/>
          <a:lstStyle/>
          <a:p>
            <a:endParaRPr lang="en-US"/>
          </a:p>
        </p:txBody>
      </p:sp>
      <p:sp>
        <p:nvSpPr>
          <p:cNvPr id="17" name="Text 15"/>
          <p:cNvSpPr/>
          <p:nvPr/>
        </p:nvSpPr>
        <p:spPr>
          <a:xfrm>
            <a:off x="1508760" y="3611880"/>
            <a:ext cx="2286000" cy="292608"/>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  GitHub Repository</a:t>
            </a:r>
            <a:endParaRPr lang="en-US" sz="1100" dirty="0"/>
          </a:p>
        </p:txBody>
      </p:sp>
      <p:sp>
        <p:nvSpPr>
          <p:cNvPr id="18" name="Text 16"/>
          <p:cNvSpPr/>
          <p:nvPr/>
        </p:nvSpPr>
        <p:spPr>
          <a:xfrm>
            <a:off x="1508760" y="3904488"/>
            <a:ext cx="6126480" cy="29260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github.com/[your-username]/urbanisation-prospects-assessment</a:t>
            </a:r>
            <a:endParaRPr lang="en-US" sz="1100" dirty="0"/>
          </a:p>
        </p:txBody>
      </p:sp>
      <p:sp>
        <p:nvSpPr>
          <p:cNvPr id="19" name="Shape 17"/>
          <p:cNvSpPr/>
          <p:nvPr/>
        </p:nvSpPr>
        <p:spPr>
          <a:xfrm>
            <a:off x="0" y="4846320"/>
            <a:ext cx="9144000" cy="297180"/>
          </a:xfrm>
          <a:prstGeom prst="rect">
            <a:avLst/>
          </a:prstGeom>
          <a:solidFill>
            <a:srgbClr val="1E293B"/>
          </a:solidFill>
          <a:ln w="12700">
            <a:solidFill>
              <a:srgbClr val="1E293B"/>
            </a:solidFill>
            <a:prstDash val="solid"/>
          </a:ln>
        </p:spPr>
        <p:txBody>
          <a:bodyPr/>
          <a:lstStyle/>
          <a:p>
            <a:endParaRPr lang="en-US"/>
          </a:p>
        </p:txBody>
      </p:sp>
      <p:sp>
        <p:nvSpPr>
          <p:cNvPr id="20" name="Text 18"/>
          <p:cNvSpPr/>
          <p:nvPr/>
        </p:nvSpPr>
        <p:spPr>
          <a:xfrm>
            <a:off x="457200" y="4864608"/>
            <a:ext cx="8229600" cy="256032"/>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Microsoft Fabric  •  PowerBI  •  Delta Lake  •  PySpark  •  Medallion Architecture  •  GitHub</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TotalTime>
  <Words>3105</Words>
  <Application>Microsoft Office PowerPoint</Application>
  <PresentationFormat>On-screen Show (16:9)</PresentationFormat>
  <Paragraphs>186</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Urbanisation Prospects - Data Engineering Assessment</dc:title>
  <dc:subject>PptxGenJS Presentation</dc:subject>
  <dc:creator>PptxGenJS</dc:creator>
  <cp:lastModifiedBy>Jonathan Hayward</cp:lastModifiedBy>
  <cp:revision>2</cp:revision>
  <dcterms:created xsi:type="dcterms:W3CDTF">2026-02-28T11:31:04Z</dcterms:created>
  <dcterms:modified xsi:type="dcterms:W3CDTF">2026-02-28T16:09:57Z</dcterms:modified>
</cp:coreProperties>
</file>